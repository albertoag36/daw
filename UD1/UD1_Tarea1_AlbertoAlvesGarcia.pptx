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208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8D08F-3AC7-E35C-B6CB-BA0C50692B6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C68200A-4C3B-8336-86AA-5ABD553E222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96912B7-E419-0B5E-5DAE-3FE79A73BDE5}"/>
              </a:ext>
            </a:extLst>
          </p:cNvPr>
          <p:cNvSpPr>
            <a:spLocks noGrp="1"/>
          </p:cNvSpPr>
          <p:nvPr>
            <p:ph type="dt" sz="half" idx="10"/>
          </p:nvPr>
        </p:nvSpPr>
        <p:spPr/>
        <p:txBody>
          <a:bodyPr/>
          <a:lstStyle/>
          <a:p>
            <a:fld id="{12E185DD-DA4C-44EB-A5B3-6165DB2A24E1}" type="datetimeFigureOut">
              <a:rPr lang="es-ES" smtClean="0"/>
              <a:t>21/09/2026</a:t>
            </a:fld>
            <a:endParaRPr lang="es-ES"/>
          </a:p>
        </p:txBody>
      </p:sp>
      <p:sp>
        <p:nvSpPr>
          <p:cNvPr id="5" name="Marcador de pie de página 4">
            <a:extLst>
              <a:ext uri="{FF2B5EF4-FFF2-40B4-BE49-F238E27FC236}">
                <a16:creationId xmlns:a16="http://schemas.microsoft.com/office/drawing/2014/main" id="{DDF90BD9-5D0B-90AC-BB0E-939F4C11FA4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E0EEF63-AFC5-2F61-EAF0-50D2E999E951}"/>
              </a:ext>
            </a:extLst>
          </p:cNvPr>
          <p:cNvSpPr>
            <a:spLocks noGrp="1"/>
          </p:cNvSpPr>
          <p:nvPr>
            <p:ph type="sldNum" sz="quarter" idx="12"/>
          </p:nvPr>
        </p:nvSpPr>
        <p:spPr/>
        <p:txBody>
          <a:bodyPr/>
          <a:lstStyle/>
          <a:p>
            <a:fld id="{A8B7E222-5B2A-4A79-AECB-D86121B23679}" type="slidenum">
              <a:rPr lang="es-ES" smtClean="0"/>
              <a:t>‹Nº›</a:t>
            </a:fld>
            <a:endParaRPr lang="es-ES"/>
          </a:p>
        </p:txBody>
      </p:sp>
    </p:spTree>
    <p:extLst>
      <p:ext uri="{BB962C8B-B14F-4D97-AF65-F5344CB8AC3E}">
        <p14:creationId xmlns:p14="http://schemas.microsoft.com/office/powerpoint/2010/main" val="38766825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es.wikipedia.org/wiki/Web_2.0" TargetMode="Externa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hyperlink" Target="https://digital-strategy.ec.europa.eu/en/library/eu-initiative-virtual-worlds-head-start-next-technological-transi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51F"/>
        </a:solidFill>
        <a:effectLst/>
      </p:bgPr>
    </p:bg>
    <p:spTree>
      <p:nvGrpSpPr>
        <p:cNvPr id="1" name=""/>
        <p:cNvGrpSpPr/>
        <p:nvPr/>
      </p:nvGrpSpPr>
      <p:grpSpPr>
        <a:xfrm>
          <a:off x="0" y="0"/>
          <a:ext cx="0" cy="0"/>
          <a:chOff x="0" y="0"/>
          <a:chExt cx="0" cy="0"/>
        </a:xfrm>
      </p:grpSpPr>
      <p:sp>
        <p:nvSpPr>
          <p:cNvPr id="3" name="Shape 1"/>
          <p:cNvSpPr/>
          <p:nvPr/>
        </p:nvSpPr>
        <p:spPr>
          <a:xfrm>
            <a:off x="822960" y="1417320"/>
            <a:ext cx="1005840" cy="0"/>
          </a:xfrm>
          <a:prstGeom prst="line">
            <a:avLst/>
          </a:prstGeom>
          <a:noFill/>
          <a:ln w="19050">
            <a:solidFill>
              <a:srgbClr val="C9A24B"/>
            </a:solidFill>
            <a:prstDash val="solid"/>
          </a:ln>
        </p:spPr>
        <p:txBody>
          <a:bodyPr/>
          <a:lstStyle/>
          <a:p>
            <a:endParaRPr lang="es-ES"/>
          </a:p>
        </p:txBody>
      </p:sp>
      <p:sp>
        <p:nvSpPr>
          <p:cNvPr id="4" name="Text 2"/>
          <p:cNvSpPr txBox="1"/>
          <p:nvPr/>
        </p:nvSpPr>
        <p:spPr>
          <a:xfrm>
            <a:off x="822960" y="1536192"/>
            <a:ext cx="10515600" cy="365760"/>
          </a:xfrm>
          <a:prstGeom prst="rect">
            <a:avLst/>
          </a:prstGeom>
          <a:noFill/>
          <a:ln/>
        </p:spPr>
        <p:txBody>
          <a:bodyPr wrap="square" lIns="0" tIns="0" rIns="0" bIns="0" rtlCol="0" anchor="ctr"/>
          <a:lstStyle/>
          <a:p>
            <a:pPr marL="0" indent="0">
              <a:buNone/>
            </a:pPr>
            <a:r>
              <a:rPr lang="en-US" sz="1250" b="1" kern="0" spc="200" dirty="0">
                <a:solidFill>
                  <a:srgbClr val="C9A24B"/>
                </a:solidFill>
                <a:latin typeface="Calibri" pitchFamily="34" charset="0"/>
                <a:ea typeface="Calibri" pitchFamily="34" charset="-122"/>
                <a:cs typeface="Calibri" pitchFamily="34" charset="-120"/>
              </a:rPr>
              <a:t>DESARROLLO DE APLICACIONES WEB · 2º DAW</a:t>
            </a:r>
            <a:endParaRPr lang="en-US" sz="1250" dirty="0"/>
          </a:p>
        </p:txBody>
      </p:sp>
      <p:sp>
        <p:nvSpPr>
          <p:cNvPr id="5" name="Text 3"/>
          <p:cNvSpPr txBox="1"/>
          <p:nvPr/>
        </p:nvSpPr>
        <p:spPr>
          <a:xfrm>
            <a:off x="795528" y="2148840"/>
            <a:ext cx="10515600" cy="1234440"/>
          </a:xfrm>
          <a:prstGeom prst="rect">
            <a:avLst/>
          </a:prstGeom>
          <a:noFill/>
          <a:ln/>
        </p:spPr>
        <p:txBody>
          <a:bodyPr wrap="square" lIns="0" tIns="0" rIns="0" bIns="0" rtlCol="0" anchor="ctr"/>
          <a:lstStyle/>
          <a:p>
            <a:pPr marL="0" indent="0">
              <a:buNone/>
            </a:pPr>
            <a:r>
              <a:rPr lang="en-US" sz="5000" b="1" dirty="0">
                <a:solidFill>
                  <a:srgbClr val="F4EFE4"/>
                </a:solidFill>
                <a:latin typeface="Georgia" pitchFamily="34" charset="0"/>
                <a:ea typeface="Georgia" pitchFamily="34" charset="-122"/>
                <a:cs typeface="Georgia" pitchFamily="34" charset="-120"/>
              </a:rPr>
              <a:t>La evolución de la Web</a:t>
            </a:r>
            <a:endParaRPr lang="en-US" sz="5000" dirty="0"/>
          </a:p>
        </p:txBody>
      </p:sp>
      <p:sp>
        <p:nvSpPr>
          <p:cNvPr id="6" name="Text 4"/>
          <p:cNvSpPr txBox="1"/>
          <p:nvPr/>
        </p:nvSpPr>
        <p:spPr>
          <a:xfrm>
            <a:off x="822960" y="3246120"/>
            <a:ext cx="10515600" cy="502920"/>
          </a:xfrm>
          <a:prstGeom prst="rect">
            <a:avLst/>
          </a:prstGeom>
          <a:noFill/>
          <a:ln/>
        </p:spPr>
        <p:txBody>
          <a:bodyPr wrap="square" lIns="0" tIns="0" rIns="0" bIns="0" rtlCol="0" anchor="ctr"/>
          <a:lstStyle/>
          <a:p>
            <a:pPr marL="0" indent="0">
              <a:buNone/>
            </a:pPr>
            <a:r>
              <a:rPr lang="en-US" sz="1700" i="1" dirty="0">
                <a:solidFill>
                  <a:srgbClr val="9498AC"/>
                </a:solidFill>
                <a:latin typeface="Calibri" pitchFamily="34" charset="0"/>
                <a:ea typeface="Calibri" pitchFamily="34" charset="-122"/>
                <a:cs typeface="Calibri" pitchFamily="34" charset="-120"/>
              </a:rPr>
              <a:t>De la Web 1.0 a la Web 4.0 — una comparativa en cuatro actos</a:t>
            </a:r>
            <a:endParaRPr lang="en-US" sz="1700" dirty="0"/>
          </a:p>
        </p:txBody>
      </p:sp>
      <p:sp>
        <p:nvSpPr>
          <p:cNvPr id="7" name="Shape 5"/>
          <p:cNvSpPr/>
          <p:nvPr/>
        </p:nvSpPr>
        <p:spPr>
          <a:xfrm>
            <a:off x="822960" y="4709160"/>
            <a:ext cx="2286000" cy="54864"/>
          </a:xfrm>
          <a:prstGeom prst="rect">
            <a:avLst/>
          </a:prstGeom>
          <a:solidFill>
            <a:srgbClr val="8B93A6"/>
          </a:solidFill>
          <a:ln/>
        </p:spPr>
        <p:txBody>
          <a:bodyPr/>
          <a:lstStyle/>
          <a:p>
            <a:endParaRPr lang="es-ES"/>
          </a:p>
        </p:txBody>
      </p:sp>
      <p:sp>
        <p:nvSpPr>
          <p:cNvPr id="8" name="Text 6"/>
          <p:cNvSpPr txBox="1"/>
          <p:nvPr/>
        </p:nvSpPr>
        <p:spPr>
          <a:xfrm>
            <a:off x="822960" y="4873752"/>
            <a:ext cx="914400" cy="457200"/>
          </a:xfrm>
          <a:prstGeom prst="rect">
            <a:avLst/>
          </a:prstGeom>
          <a:noFill/>
          <a:ln/>
        </p:spPr>
        <p:txBody>
          <a:bodyPr wrap="square" lIns="0" tIns="0" rIns="0" bIns="0" rtlCol="0" anchor="ctr"/>
          <a:lstStyle/>
          <a:p>
            <a:pPr marL="0" indent="0">
              <a:buNone/>
            </a:pPr>
            <a:r>
              <a:rPr lang="en-US" sz="2200" b="1" dirty="0">
                <a:solidFill>
                  <a:srgbClr val="8B93A6"/>
                </a:solidFill>
                <a:latin typeface="Georgia" pitchFamily="34" charset="0"/>
                <a:ea typeface="Georgia" pitchFamily="34" charset="-122"/>
                <a:cs typeface="Georgia" pitchFamily="34" charset="-120"/>
              </a:rPr>
              <a:t>01</a:t>
            </a:r>
            <a:endParaRPr lang="en-US" sz="2200" dirty="0"/>
          </a:p>
        </p:txBody>
      </p:sp>
      <p:sp>
        <p:nvSpPr>
          <p:cNvPr id="9" name="Text 7"/>
          <p:cNvSpPr txBox="1"/>
          <p:nvPr/>
        </p:nvSpPr>
        <p:spPr>
          <a:xfrm>
            <a:off x="822960" y="5312664"/>
            <a:ext cx="2286000" cy="274320"/>
          </a:xfrm>
          <a:prstGeom prst="rect">
            <a:avLst/>
          </a:prstGeom>
          <a:noFill/>
          <a:ln/>
        </p:spPr>
        <p:txBody>
          <a:bodyPr wrap="square" lIns="0" tIns="0" rIns="0" bIns="0" rtlCol="0" anchor="ctr"/>
          <a:lstStyle/>
          <a:p>
            <a:pPr marL="0" indent="0">
              <a:buNone/>
            </a:pPr>
            <a:r>
              <a:rPr lang="en-US" sz="1050" kern="0" spc="100" dirty="0">
                <a:solidFill>
                  <a:srgbClr val="9498AC"/>
                </a:solidFill>
                <a:latin typeface="Calibri" pitchFamily="34" charset="0"/>
                <a:ea typeface="Calibri" pitchFamily="34" charset="-122"/>
                <a:cs typeface="Calibri" pitchFamily="34" charset="-120"/>
              </a:rPr>
              <a:t>WEB 1.0</a:t>
            </a:r>
            <a:endParaRPr lang="en-US" sz="1050" dirty="0"/>
          </a:p>
        </p:txBody>
      </p:sp>
      <p:sp>
        <p:nvSpPr>
          <p:cNvPr id="10" name="Shape 8"/>
          <p:cNvSpPr/>
          <p:nvPr/>
        </p:nvSpPr>
        <p:spPr>
          <a:xfrm>
            <a:off x="3429000" y="4709160"/>
            <a:ext cx="2286000" cy="54864"/>
          </a:xfrm>
          <a:prstGeom prst="rect">
            <a:avLst/>
          </a:prstGeom>
          <a:solidFill>
            <a:srgbClr val="4FA98B"/>
          </a:solidFill>
          <a:ln/>
        </p:spPr>
        <p:txBody>
          <a:bodyPr/>
          <a:lstStyle/>
          <a:p>
            <a:endParaRPr lang="es-ES"/>
          </a:p>
        </p:txBody>
      </p:sp>
      <p:sp>
        <p:nvSpPr>
          <p:cNvPr id="11" name="Text 9"/>
          <p:cNvSpPr txBox="1"/>
          <p:nvPr/>
        </p:nvSpPr>
        <p:spPr>
          <a:xfrm>
            <a:off x="3429000" y="4873752"/>
            <a:ext cx="914400" cy="457200"/>
          </a:xfrm>
          <a:prstGeom prst="rect">
            <a:avLst/>
          </a:prstGeom>
          <a:noFill/>
          <a:ln/>
        </p:spPr>
        <p:txBody>
          <a:bodyPr wrap="square" lIns="0" tIns="0" rIns="0" bIns="0" rtlCol="0" anchor="ctr"/>
          <a:lstStyle/>
          <a:p>
            <a:pPr marL="0" indent="0">
              <a:buNone/>
            </a:pPr>
            <a:r>
              <a:rPr lang="en-US" sz="2200" b="1" dirty="0">
                <a:solidFill>
                  <a:srgbClr val="4FA98B"/>
                </a:solidFill>
                <a:latin typeface="Georgia" pitchFamily="34" charset="0"/>
                <a:ea typeface="Georgia" pitchFamily="34" charset="-122"/>
                <a:cs typeface="Georgia" pitchFamily="34" charset="-120"/>
              </a:rPr>
              <a:t>02</a:t>
            </a:r>
            <a:endParaRPr lang="en-US" sz="2200" dirty="0"/>
          </a:p>
        </p:txBody>
      </p:sp>
      <p:sp>
        <p:nvSpPr>
          <p:cNvPr id="12" name="Text 10"/>
          <p:cNvSpPr txBox="1"/>
          <p:nvPr/>
        </p:nvSpPr>
        <p:spPr>
          <a:xfrm>
            <a:off x="3429000" y="5312664"/>
            <a:ext cx="2286000" cy="274320"/>
          </a:xfrm>
          <a:prstGeom prst="rect">
            <a:avLst/>
          </a:prstGeom>
          <a:noFill/>
          <a:ln/>
        </p:spPr>
        <p:txBody>
          <a:bodyPr wrap="square" lIns="0" tIns="0" rIns="0" bIns="0" rtlCol="0" anchor="ctr"/>
          <a:lstStyle/>
          <a:p>
            <a:pPr marL="0" indent="0">
              <a:buNone/>
            </a:pPr>
            <a:r>
              <a:rPr lang="en-US" sz="1050" kern="0" spc="100" dirty="0">
                <a:solidFill>
                  <a:srgbClr val="9498AC"/>
                </a:solidFill>
                <a:latin typeface="Calibri" pitchFamily="34" charset="0"/>
                <a:ea typeface="Calibri" pitchFamily="34" charset="-122"/>
                <a:cs typeface="Calibri" pitchFamily="34" charset="-120"/>
              </a:rPr>
              <a:t>WEB 2.0</a:t>
            </a:r>
            <a:endParaRPr lang="en-US" sz="1050" dirty="0"/>
          </a:p>
        </p:txBody>
      </p:sp>
      <p:sp>
        <p:nvSpPr>
          <p:cNvPr id="13" name="Shape 11"/>
          <p:cNvSpPr/>
          <p:nvPr/>
        </p:nvSpPr>
        <p:spPr>
          <a:xfrm>
            <a:off x="6035040" y="4709160"/>
            <a:ext cx="2286000" cy="54864"/>
          </a:xfrm>
          <a:prstGeom prst="rect">
            <a:avLst/>
          </a:prstGeom>
          <a:solidFill>
            <a:srgbClr val="9B7FC7"/>
          </a:solidFill>
          <a:ln/>
        </p:spPr>
        <p:txBody>
          <a:bodyPr/>
          <a:lstStyle/>
          <a:p>
            <a:endParaRPr lang="es-ES"/>
          </a:p>
        </p:txBody>
      </p:sp>
      <p:sp>
        <p:nvSpPr>
          <p:cNvPr id="14" name="Text 12"/>
          <p:cNvSpPr txBox="1"/>
          <p:nvPr/>
        </p:nvSpPr>
        <p:spPr>
          <a:xfrm>
            <a:off x="6035040" y="4873752"/>
            <a:ext cx="914400" cy="457200"/>
          </a:xfrm>
          <a:prstGeom prst="rect">
            <a:avLst/>
          </a:prstGeom>
          <a:noFill/>
          <a:ln/>
        </p:spPr>
        <p:txBody>
          <a:bodyPr wrap="square" lIns="0" tIns="0" rIns="0" bIns="0" rtlCol="0" anchor="ctr"/>
          <a:lstStyle/>
          <a:p>
            <a:pPr marL="0" indent="0">
              <a:buNone/>
            </a:pPr>
            <a:r>
              <a:rPr lang="en-US" sz="2200" b="1" dirty="0">
                <a:solidFill>
                  <a:srgbClr val="9B7FC7"/>
                </a:solidFill>
                <a:latin typeface="Georgia" pitchFamily="34" charset="0"/>
                <a:ea typeface="Georgia" pitchFamily="34" charset="-122"/>
                <a:cs typeface="Georgia" pitchFamily="34" charset="-120"/>
              </a:rPr>
              <a:t>03</a:t>
            </a:r>
            <a:endParaRPr lang="en-US" sz="2200" dirty="0"/>
          </a:p>
        </p:txBody>
      </p:sp>
      <p:sp>
        <p:nvSpPr>
          <p:cNvPr id="15" name="Text 13"/>
          <p:cNvSpPr txBox="1"/>
          <p:nvPr/>
        </p:nvSpPr>
        <p:spPr>
          <a:xfrm>
            <a:off x="6035040" y="5312664"/>
            <a:ext cx="2286000" cy="274320"/>
          </a:xfrm>
          <a:prstGeom prst="rect">
            <a:avLst/>
          </a:prstGeom>
          <a:noFill/>
          <a:ln/>
        </p:spPr>
        <p:txBody>
          <a:bodyPr wrap="square" lIns="0" tIns="0" rIns="0" bIns="0" rtlCol="0" anchor="ctr"/>
          <a:lstStyle/>
          <a:p>
            <a:pPr marL="0" indent="0">
              <a:buNone/>
            </a:pPr>
            <a:r>
              <a:rPr lang="en-US" sz="1050" kern="0" spc="100" dirty="0">
                <a:solidFill>
                  <a:srgbClr val="9498AC"/>
                </a:solidFill>
                <a:latin typeface="Calibri" pitchFamily="34" charset="0"/>
                <a:ea typeface="Calibri" pitchFamily="34" charset="-122"/>
                <a:cs typeface="Calibri" pitchFamily="34" charset="-120"/>
              </a:rPr>
              <a:t>WEB 3.0</a:t>
            </a:r>
            <a:endParaRPr lang="en-US" sz="1050" dirty="0"/>
          </a:p>
        </p:txBody>
      </p:sp>
      <p:sp>
        <p:nvSpPr>
          <p:cNvPr id="16" name="Shape 14"/>
          <p:cNvSpPr/>
          <p:nvPr/>
        </p:nvSpPr>
        <p:spPr>
          <a:xfrm>
            <a:off x="8641080" y="4709160"/>
            <a:ext cx="2286000" cy="54864"/>
          </a:xfrm>
          <a:prstGeom prst="rect">
            <a:avLst/>
          </a:prstGeom>
          <a:solidFill>
            <a:srgbClr val="E0793B"/>
          </a:solidFill>
          <a:ln/>
        </p:spPr>
        <p:txBody>
          <a:bodyPr/>
          <a:lstStyle/>
          <a:p>
            <a:endParaRPr lang="es-ES"/>
          </a:p>
        </p:txBody>
      </p:sp>
      <p:sp>
        <p:nvSpPr>
          <p:cNvPr id="17" name="Text 15"/>
          <p:cNvSpPr txBox="1"/>
          <p:nvPr/>
        </p:nvSpPr>
        <p:spPr>
          <a:xfrm>
            <a:off x="8641080" y="4873752"/>
            <a:ext cx="914400" cy="457200"/>
          </a:xfrm>
          <a:prstGeom prst="rect">
            <a:avLst/>
          </a:prstGeom>
          <a:noFill/>
          <a:ln/>
        </p:spPr>
        <p:txBody>
          <a:bodyPr wrap="square" lIns="0" tIns="0" rIns="0" bIns="0" rtlCol="0" anchor="ctr"/>
          <a:lstStyle/>
          <a:p>
            <a:pPr marL="0" indent="0">
              <a:buNone/>
            </a:pPr>
            <a:r>
              <a:rPr lang="en-US" sz="2200" b="1" dirty="0">
                <a:solidFill>
                  <a:srgbClr val="E0793B"/>
                </a:solidFill>
                <a:latin typeface="Georgia" pitchFamily="34" charset="0"/>
                <a:ea typeface="Georgia" pitchFamily="34" charset="-122"/>
                <a:cs typeface="Georgia" pitchFamily="34" charset="-120"/>
              </a:rPr>
              <a:t>04</a:t>
            </a:r>
            <a:endParaRPr lang="en-US" sz="2200" dirty="0"/>
          </a:p>
        </p:txBody>
      </p:sp>
      <p:sp>
        <p:nvSpPr>
          <p:cNvPr id="18" name="Text 16"/>
          <p:cNvSpPr txBox="1"/>
          <p:nvPr/>
        </p:nvSpPr>
        <p:spPr>
          <a:xfrm>
            <a:off x="8641080" y="5312664"/>
            <a:ext cx="2286000" cy="274320"/>
          </a:xfrm>
          <a:prstGeom prst="rect">
            <a:avLst/>
          </a:prstGeom>
          <a:noFill/>
          <a:ln/>
        </p:spPr>
        <p:txBody>
          <a:bodyPr wrap="square" lIns="0" tIns="0" rIns="0" bIns="0" rtlCol="0" anchor="ctr"/>
          <a:lstStyle/>
          <a:p>
            <a:pPr marL="0" indent="0">
              <a:buNone/>
            </a:pPr>
            <a:r>
              <a:rPr lang="en-US" sz="1050" kern="0" spc="100" dirty="0">
                <a:solidFill>
                  <a:srgbClr val="9498AC"/>
                </a:solidFill>
                <a:latin typeface="Calibri" pitchFamily="34" charset="0"/>
                <a:ea typeface="Calibri" pitchFamily="34" charset="-122"/>
                <a:cs typeface="Calibri" pitchFamily="34" charset="-120"/>
              </a:rPr>
              <a:t>WEB 4.0</a:t>
            </a:r>
            <a:endParaRPr lang="en-US" sz="1050" dirty="0"/>
          </a:p>
        </p:txBody>
      </p:sp>
      <p:sp>
        <p:nvSpPr>
          <p:cNvPr id="19" name="Text 17"/>
          <p:cNvSpPr txBox="1"/>
          <p:nvPr/>
        </p:nvSpPr>
        <p:spPr>
          <a:xfrm>
            <a:off x="822960" y="5989320"/>
            <a:ext cx="7315200" cy="365760"/>
          </a:xfrm>
          <a:prstGeom prst="rect">
            <a:avLst/>
          </a:prstGeom>
          <a:noFill/>
          <a:ln/>
        </p:spPr>
        <p:txBody>
          <a:bodyPr wrap="square" lIns="0" tIns="0" rIns="0" bIns="0" rtlCol="0" anchor="ctr"/>
          <a:lstStyle/>
          <a:p>
            <a:pPr marL="0" indent="0">
              <a:buNone/>
            </a:pPr>
            <a:r>
              <a:rPr lang="en-US" sz="1150">
                <a:solidFill>
                  <a:srgbClr val="8A7238"/>
                </a:solidFill>
                <a:latin typeface="Calibri" pitchFamily="34" charset="0"/>
                <a:ea typeface="Calibri" pitchFamily="34" charset="-122"/>
                <a:cs typeface="Calibri" pitchFamily="34" charset="-120"/>
              </a:rPr>
              <a:t>Alberto Alves García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51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731520"/>
          </a:xfrm>
          <a:prstGeom prst="rect">
            <a:avLst/>
          </a:prstGeom>
          <a:noFill/>
          <a:ln/>
        </p:spPr>
        <p:txBody>
          <a:bodyPr wrap="square" lIns="0" tIns="0" rIns="0" bIns="0" rtlCol="0" anchor="ctr"/>
          <a:lstStyle/>
          <a:p>
            <a:pPr marL="0" indent="0">
              <a:buNone/>
            </a:pPr>
            <a:r>
              <a:rPr lang="en-US" sz="3200" b="1" dirty="0">
                <a:solidFill>
                  <a:srgbClr val="F4EFE4"/>
                </a:solidFill>
                <a:latin typeface="Georgia" pitchFamily="34" charset="0"/>
                <a:ea typeface="Georgia" pitchFamily="34" charset="-122"/>
                <a:cs typeface="Georgia" pitchFamily="34" charset="-120"/>
              </a:rPr>
              <a:t>Índice</a:t>
            </a:r>
            <a:endParaRPr lang="en-US" sz="3200" dirty="0"/>
          </a:p>
        </p:txBody>
      </p:sp>
      <p:sp>
        <p:nvSpPr>
          <p:cNvPr id="3" name="Shape 1"/>
          <p:cNvSpPr/>
          <p:nvPr/>
        </p:nvSpPr>
        <p:spPr>
          <a:xfrm>
            <a:off x="576072" y="1170432"/>
            <a:ext cx="822960" cy="0"/>
          </a:xfrm>
          <a:prstGeom prst="line">
            <a:avLst/>
          </a:prstGeom>
          <a:noFill/>
          <a:ln w="19050">
            <a:solidFill>
              <a:srgbClr val="C9A24B"/>
            </a:solidFill>
            <a:prstDash val="solid"/>
          </a:ln>
        </p:spPr>
        <p:txBody>
          <a:bodyPr/>
          <a:lstStyle/>
          <a:p>
            <a:endParaRPr lang="es-ES"/>
          </a:p>
        </p:txBody>
      </p:sp>
      <p:sp>
        <p:nvSpPr>
          <p:cNvPr id="4" name="Text 2">
            <a:hlinkClick r:id="rId3" action="ppaction://hlinksldjump"/>
          </p:cNvPr>
          <p:cNvSpPr txBox="1"/>
          <p:nvPr/>
        </p:nvSpPr>
        <p:spPr>
          <a:xfrm>
            <a:off x="548640" y="1463040"/>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rId3" action="ppaction://hlinksldjump">
                  <a:extLst>
                    <a:ext uri="{A12FA001-AC4F-418D-AE19-62706E023703}">
                      <ahyp:hlinkClr xmlns:ahyp="http://schemas.microsoft.com/office/drawing/2018/hyperlinkcolor" val="tx"/>
                    </a:ext>
                  </a:extLst>
                </a:hlinkClick>
              </a:rPr>
              <a:t>01</a:t>
            </a:r>
            <a:endParaRPr lang="en-US" sz="2600" dirty="0"/>
          </a:p>
        </p:txBody>
      </p:sp>
      <p:sp>
        <p:nvSpPr>
          <p:cNvPr id="5" name="Shape 3"/>
          <p:cNvSpPr/>
          <p:nvPr/>
        </p:nvSpPr>
        <p:spPr>
          <a:xfrm>
            <a:off x="1508760" y="1600200"/>
            <a:ext cx="82296" cy="292608"/>
          </a:xfrm>
          <a:prstGeom prst="rect">
            <a:avLst/>
          </a:prstGeom>
          <a:solidFill>
            <a:srgbClr val="8B93A6"/>
          </a:solidFill>
          <a:ln/>
        </p:spPr>
        <p:txBody>
          <a:bodyPr/>
          <a:lstStyle/>
          <a:p>
            <a:endParaRPr lang="es-ES"/>
          </a:p>
        </p:txBody>
      </p:sp>
      <p:sp>
        <p:nvSpPr>
          <p:cNvPr id="6" name="Text 4">
            <a:hlinkClick r:id="rId3" action="ppaction://hlinksldjump"/>
          </p:cNvPr>
          <p:cNvSpPr txBox="1"/>
          <p:nvPr/>
        </p:nvSpPr>
        <p:spPr>
          <a:xfrm>
            <a:off x="1737360" y="1463040"/>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Web 1.0</a:t>
            </a:r>
            <a:endParaRPr lang="en-US" sz="1600" dirty="0"/>
          </a:p>
        </p:txBody>
      </p:sp>
      <p:sp>
        <p:nvSpPr>
          <p:cNvPr id="7" name="Shape 5">
            <a:hlinkClick r:id="rId3" action="ppaction://hlinksldjump"/>
          </p:cNvPr>
          <p:cNvSpPr/>
          <p:nvPr/>
        </p:nvSpPr>
        <p:spPr>
          <a:xfrm>
            <a:off x="502920" y="1435608"/>
            <a:ext cx="10332720" cy="649224"/>
          </a:xfrm>
          <a:prstGeom prst="rect">
            <a:avLst/>
          </a:prstGeom>
          <a:ln/>
        </p:spPr>
        <p:txBody>
          <a:bodyPr/>
          <a:lstStyle/>
          <a:p>
            <a:endParaRPr lang="es-ES"/>
          </a:p>
        </p:txBody>
      </p:sp>
      <p:sp>
        <p:nvSpPr>
          <p:cNvPr id="8" name="Shape 6"/>
          <p:cNvSpPr/>
          <p:nvPr/>
        </p:nvSpPr>
        <p:spPr>
          <a:xfrm>
            <a:off x="548640" y="2066544"/>
            <a:ext cx="10241280" cy="0"/>
          </a:xfrm>
          <a:prstGeom prst="line">
            <a:avLst/>
          </a:prstGeom>
          <a:noFill/>
          <a:ln w="9525">
            <a:solidFill>
              <a:srgbClr val="343A52"/>
            </a:solidFill>
            <a:prstDash val="solid"/>
          </a:ln>
        </p:spPr>
        <p:txBody>
          <a:bodyPr/>
          <a:lstStyle/>
          <a:p>
            <a:endParaRPr lang="es-ES"/>
          </a:p>
        </p:txBody>
      </p:sp>
      <p:sp>
        <p:nvSpPr>
          <p:cNvPr id="9" name="Text 7">
            <a:hlinkClick r:id="rId4" action="ppaction://hlinksldjump"/>
          </p:cNvPr>
          <p:cNvSpPr txBox="1"/>
          <p:nvPr/>
        </p:nvSpPr>
        <p:spPr>
          <a:xfrm>
            <a:off x="548640" y="2157984"/>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rId4" action="ppaction://hlinksldjump">
                  <a:extLst>
                    <a:ext uri="{A12FA001-AC4F-418D-AE19-62706E023703}">
                      <ahyp:hlinkClr xmlns:ahyp="http://schemas.microsoft.com/office/drawing/2018/hyperlinkcolor" val="tx"/>
                    </a:ext>
                  </a:extLst>
                </a:hlinkClick>
              </a:rPr>
              <a:t>02</a:t>
            </a:r>
            <a:endParaRPr lang="en-US" sz="2600" dirty="0"/>
          </a:p>
        </p:txBody>
      </p:sp>
      <p:sp>
        <p:nvSpPr>
          <p:cNvPr id="10" name="Shape 8"/>
          <p:cNvSpPr/>
          <p:nvPr/>
        </p:nvSpPr>
        <p:spPr>
          <a:xfrm>
            <a:off x="1508760" y="2295144"/>
            <a:ext cx="82296" cy="292608"/>
          </a:xfrm>
          <a:prstGeom prst="rect">
            <a:avLst/>
          </a:prstGeom>
          <a:solidFill>
            <a:srgbClr val="4FA98B"/>
          </a:solidFill>
          <a:ln/>
        </p:spPr>
        <p:txBody>
          <a:bodyPr/>
          <a:lstStyle/>
          <a:p>
            <a:endParaRPr lang="es-ES"/>
          </a:p>
        </p:txBody>
      </p:sp>
      <p:sp>
        <p:nvSpPr>
          <p:cNvPr id="11" name="Text 9">
            <a:hlinkClick r:id="rId4" action="ppaction://hlinksldjump"/>
          </p:cNvPr>
          <p:cNvSpPr txBox="1"/>
          <p:nvPr/>
        </p:nvSpPr>
        <p:spPr>
          <a:xfrm>
            <a:off x="1737360" y="2157984"/>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Web 2.0</a:t>
            </a:r>
            <a:endParaRPr lang="en-US" sz="1600" dirty="0"/>
          </a:p>
        </p:txBody>
      </p:sp>
      <p:sp>
        <p:nvSpPr>
          <p:cNvPr id="12" name="Shape 10">
            <a:hlinkClick r:id="rId4" action="ppaction://hlinksldjump"/>
          </p:cNvPr>
          <p:cNvSpPr/>
          <p:nvPr/>
        </p:nvSpPr>
        <p:spPr>
          <a:xfrm>
            <a:off x="502920" y="2130552"/>
            <a:ext cx="10332720" cy="649224"/>
          </a:xfrm>
          <a:prstGeom prst="rect">
            <a:avLst/>
          </a:prstGeom>
          <a:ln/>
        </p:spPr>
        <p:txBody>
          <a:bodyPr/>
          <a:lstStyle/>
          <a:p>
            <a:endParaRPr lang="es-ES"/>
          </a:p>
        </p:txBody>
      </p:sp>
      <p:sp>
        <p:nvSpPr>
          <p:cNvPr id="13" name="Shape 11"/>
          <p:cNvSpPr/>
          <p:nvPr/>
        </p:nvSpPr>
        <p:spPr>
          <a:xfrm>
            <a:off x="548640" y="2761488"/>
            <a:ext cx="10241280" cy="0"/>
          </a:xfrm>
          <a:prstGeom prst="line">
            <a:avLst/>
          </a:prstGeom>
          <a:noFill/>
          <a:ln w="9525">
            <a:solidFill>
              <a:srgbClr val="343A52"/>
            </a:solidFill>
            <a:prstDash val="solid"/>
          </a:ln>
        </p:spPr>
        <p:txBody>
          <a:bodyPr/>
          <a:lstStyle/>
          <a:p>
            <a:endParaRPr lang="es-ES"/>
          </a:p>
        </p:txBody>
      </p:sp>
      <p:sp>
        <p:nvSpPr>
          <p:cNvPr id="14" name="Text 12">
            <a:hlinkClick r:id="rId5" action="ppaction://hlinksldjump"/>
          </p:cNvPr>
          <p:cNvSpPr txBox="1"/>
          <p:nvPr/>
        </p:nvSpPr>
        <p:spPr>
          <a:xfrm>
            <a:off x="548640" y="2852928"/>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rId5" action="ppaction://hlinksldjump">
                  <a:extLst>
                    <a:ext uri="{A12FA001-AC4F-418D-AE19-62706E023703}">
                      <ahyp:hlinkClr xmlns:ahyp="http://schemas.microsoft.com/office/drawing/2018/hyperlinkcolor" val="tx"/>
                    </a:ext>
                  </a:extLst>
                </a:hlinkClick>
              </a:rPr>
              <a:t>03</a:t>
            </a:r>
            <a:endParaRPr lang="en-US" sz="2600" dirty="0"/>
          </a:p>
        </p:txBody>
      </p:sp>
      <p:sp>
        <p:nvSpPr>
          <p:cNvPr id="15" name="Shape 13"/>
          <p:cNvSpPr/>
          <p:nvPr/>
        </p:nvSpPr>
        <p:spPr>
          <a:xfrm>
            <a:off x="1508760" y="2990088"/>
            <a:ext cx="82296" cy="292608"/>
          </a:xfrm>
          <a:prstGeom prst="rect">
            <a:avLst/>
          </a:prstGeom>
          <a:solidFill>
            <a:srgbClr val="9B7FC7"/>
          </a:solidFill>
          <a:ln/>
        </p:spPr>
        <p:txBody>
          <a:bodyPr/>
          <a:lstStyle/>
          <a:p>
            <a:endParaRPr lang="es-ES"/>
          </a:p>
        </p:txBody>
      </p:sp>
      <p:sp>
        <p:nvSpPr>
          <p:cNvPr id="16" name="Text 14">
            <a:hlinkClick r:id="rId5" action="ppaction://hlinksldjump"/>
          </p:cNvPr>
          <p:cNvSpPr txBox="1"/>
          <p:nvPr/>
        </p:nvSpPr>
        <p:spPr>
          <a:xfrm>
            <a:off x="1737360" y="2852928"/>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rId5" action="ppaction://hlinksldjump">
                  <a:extLst>
                    <a:ext uri="{A12FA001-AC4F-418D-AE19-62706E023703}">
                      <ahyp:hlinkClr xmlns:ahyp="http://schemas.microsoft.com/office/drawing/2018/hyperlinkcolor" val="tx"/>
                    </a:ext>
                  </a:extLst>
                </a:hlinkClick>
              </a:rPr>
              <a:t>Web 3.0</a:t>
            </a:r>
            <a:endParaRPr lang="en-US" sz="1600" dirty="0"/>
          </a:p>
        </p:txBody>
      </p:sp>
      <p:sp>
        <p:nvSpPr>
          <p:cNvPr id="17" name="Shape 15">
            <a:hlinkClick r:id="rId5" action="ppaction://hlinksldjump"/>
          </p:cNvPr>
          <p:cNvSpPr/>
          <p:nvPr/>
        </p:nvSpPr>
        <p:spPr>
          <a:xfrm>
            <a:off x="502920" y="2825496"/>
            <a:ext cx="10332720" cy="649224"/>
          </a:xfrm>
          <a:prstGeom prst="rect">
            <a:avLst/>
          </a:prstGeom>
          <a:ln/>
        </p:spPr>
        <p:txBody>
          <a:bodyPr/>
          <a:lstStyle/>
          <a:p>
            <a:endParaRPr lang="es-ES"/>
          </a:p>
        </p:txBody>
      </p:sp>
      <p:sp>
        <p:nvSpPr>
          <p:cNvPr id="18" name="Shape 16"/>
          <p:cNvSpPr/>
          <p:nvPr/>
        </p:nvSpPr>
        <p:spPr>
          <a:xfrm>
            <a:off x="548640" y="3456432"/>
            <a:ext cx="10241280" cy="0"/>
          </a:xfrm>
          <a:prstGeom prst="line">
            <a:avLst/>
          </a:prstGeom>
          <a:noFill/>
          <a:ln w="9525">
            <a:solidFill>
              <a:srgbClr val="343A52"/>
            </a:solidFill>
            <a:prstDash val="solid"/>
          </a:ln>
        </p:spPr>
        <p:txBody>
          <a:bodyPr/>
          <a:lstStyle/>
          <a:p>
            <a:endParaRPr lang="es-ES"/>
          </a:p>
        </p:txBody>
      </p:sp>
      <p:sp>
        <p:nvSpPr>
          <p:cNvPr id="19" name="Text 17">
            <a:hlinkClick r:id="rId6" action="ppaction://hlinksldjump"/>
          </p:cNvPr>
          <p:cNvSpPr txBox="1"/>
          <p:nvPr/>
        </p:nvSpPr>
        <p:spPr>
          <a:xfrm>
            <a:off x="548640" y="3547872"/>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rId6" action="ppaction://hlinksldjump">
                  <a:extLst>
                    <a:ext uri="{A12FA001-AC4F-418D-AE19-62706E023703}">
                      <ahyp:hlinkClr xmlns:ahyp="http://schemas.microsoft.com/office/drawing/2018/hyperlinkcolor" val="tx"/>
                    </a:ext>
                  </a:extLst>
                </a:hlinkClick>
              </a:rPr>
              <a:t>04</a:t>
            </a:r>
            <a:endParaRPr lang="en-US" sz="2600" dirty="0"/>
          </a:p>
        </p:txBody>
      </p:sp>
      <p:sp>
        <p:nvSpPr>
          <p:cNvPr id="20" name="Shape 18"/>
          <p:cNvSpPr/>
          <p:nvPr/>
        </p:nvSpPr>
        <p:spPr>
          <a:xfrm>
            <a:off x="1508760" y="3685032"/>
            <a:ext cx="82296" cy="292608"/>
          </a:xfrm>
          <a:prstGeom prst="rect">
            <a:avLst/>
          </a:prstGeom>
          <a:solidFill>
            <a:srgbClr val="E0793B"/>
          </a:solidFill>
          <a:ln/>
        </p:spPr>
        <p:txBody>
          <a:bodyPr/>
          <a:lstStyle/>
          <a:p>
            <a:endParaRPr lang="es-ES"/>
          </a:p>
        </p:txBody>
      </p:sp>
      <p:sp>
        <p:nvSpPr>
          <p:cNvPr id="21" name="Text 19">
            <a:hlinkClick r:id="rId6" action="ppaction://hlinksldjump"/>
          </p:cNvPr>
          <p:cNvSpPr txBox="1"/>
          <p:nvPr/>
        </p:nvSpPr>
        <p:spPr>
          <a:xfrm>
            <a:off x="1737360" y="3547872"/>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Web 4.0</a:t>
            </a:r>
            <a:endParaRPr lang="en-US" sz="1600" dirty="0"/>
          </a:p>
        </p:txBody>
      </p:sp>
      <p:sp>
        <p:nvSpPr>
          <p:cNvPr id="22" name="Shape 20">
            <a:hlinkClick r:id="rId6" action="ppaction://hlinksldjump"/>
          </p:cNvPr>
          <p:cNvSpPr/>
          <p:nvPr/>
        </p:nvSpPr>
        <p:spPr>
          <a:xfrm>
            <a:off x="502920" y="3520440"/>
            <a:ext cx="10332720" cy="649224"/>
          </a:xfrm>
          <a:prstGeom prst="rect">
            <a:avLst/>
          </a:prstGeom>
          <a:ln/>
        </p:spPr>
        <p:txBody>
          <a:bodyPr/>
          <a:lstStyle/>
          <a:p>
            <a:endParaRPr lang="es-ES"/>
          </a:p>
        </p:txBody>
      </p:sp>
      <p:sp>
        <p:nvSpPr>
          <p:cNvPr id="23" name="Shape 21"/>
          <p:cNvSpPr/>
          <p:nvPr/>
        </p:nvSpPr>
        <p:spPr>
          <a:xfrm>
            <a:off x="548640" y="4151376"/>
            <a:ext cx="10241280" cy="0"/>
          </a:xfrm>
          <a:prstGeom prst="line">
            <a:avLst/>
          </a:prstGeom>
          <a:noFill/>
          <a:ln w="9525">
            <a:solidFill>
              <a:srgbClr val="343A52"/>
            </a:solidFill>
            <a:prstDash val="solid"/>
          </a:ln>
        </p:spPr>
        <p:txBody>
          <a:bodyPr/>
          <a:lstStyle/>
          <a:p>
            <a:endParaRPr lang="es-ES"/>
          </a:p>
        </p:txBody>
      </p:sp>
      <p:sp>
        <p:nvSpPr>
          <p:cNvPr id="24" name="Text 22">
            <a:hlinkClick r:id="rId7" action="ppaction://hlinksldjump"/>
          </p:cNvPr>
          <p:cNvSpPr txBox="1"/>
          <p:nvPr/>
        </p:nvSpPr>
        <p:spPr>
          <a:xfrm>
            <a:off x="548640" y="4242816"/>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rId7" action="ppaction://hlinksldjump">
                  <a:extLst>
                    <a:ext uri="{A12FA001-AC4F-418D-AE19-62706E023703}">
                      <ahyp:hlinkClr xmlns:ahyp="http://schemas.microsoft.com/office/drawing/2018/hyperlinkcolor" val="tx"/>
                    </a:ext>
                  </a:extLst>
                </a:hlinkClick>
              </a:rPr>
              <a:t>05</a:t>
            </a:r>
            <a:endParaRPr lang="en-US" sz="2600" dirty="0"/>
          </a:p>
        </p:txBody>
      </p:sp>
      <p:sp>
        <p:nvSpPr>
          <p:cNvPr id="25" name="Shape 23"/>
          <p:cNvSpPr/>
          <p:nvPr/>
        </p:nvSpPr>
        <p:spPr>
          <a:xfrm>
            <a:off x="1508760" y="4379976"/>
            <a:ext cx="82296" cy="292608"/>
          </a:xfrm>
          <a:prstGeom prst="rect">
            <a:avLst/>
          </a:prstGeom>
          <a:solidFill>
            <a:srgbClr val="C9A24B"/>
          </a:solidFill>
          <a:ln/>
        </p:spPr>
        <p:txBody>
          <a:bodyPr/>
          <a:lstStyle/>
          <a:p>
            <a:endParaRPr lang="es-ES"/>
          </a:p>
        </p:txBody>
      </p:sp>
      <p:sp>
        <p:nvSpPr>
          <p:cNvPr id="26" name="Text 24">
            <a:hlinkClick r:id="rId7" action="ppaction://hlinksldjump"/>
          </p:cNvPr>
          <p:cNvSpPr txBox="1"/>
          <p:nvPr/>
        </p:nvSpPr>
        <p:spPr>
          <a:xfrm>
            <a:off x="1737360" y="4242816"/>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Comparativa y reflexión final</a:t>
            </a:r>
            <a:endParaRPr lang="en-US" sz="1600" dirty="0"/>
          </a:p>
        </p:txBody>
      </p:sp>
      <p:sp>
        <p:nvSpPr>
          <p:cNvPr id="27" name="Shape 25">
            <a:hlinkClick r:id="rId7" action="ppaction://hlinksldjump"/>
          </p:cNvPr>
          <p:cNvSpPr/>
          <p:nvPr/>
        </p:nvSpPr>
        <p:spPr>
          <a:xfrm>
            <a:off x="502920" y="4215384"/>
            <a:ext cx="10332720" cy="649224"/>
          </a:xfrm>
          <a:prstGeom prst="rect">
            <a:avLst/>
          </a:prstGeom>
          <a:ln/>
        </p:spPr>
        <p:txBody>
          <a:bodyPr/>
          <a:lstStyle/>
          <a:p>
            <a:endParaRPr lang="es-ES"/>
          </a:p>
        </p:txBody>
      </p:sp>
      <p:sp>
        <p:nvSpPr>
          <p:cNvPr id="28" name="Shape 26"/>
          <p:cNvSpPr/>
          <p:nvPr/>
        </p:nvSpPr>
        <p:spPr>
          <a:xfrm>
            <a:off x="548640" y="4846320"/>
            <a:ext cx="10241280" cy="0"/>
          </a:xfrm>
          <a:prstGeom prst="line">
            <a:avLst/>
          </a:prstGeom>
          <a:noFill/>
          <a:ln w="9525">
            <a:solidFill>
              <a:srgbClr val="343A52"/>
            </a:solidFill>
            <a:prstDash val="solid"/>
          </a:ln>
        </p:spPr>
        <p:txBody>
          <a:bodyPr/>
          <a:lstStyle/>
          <a:p>
            <a:endParaRPr lang="es-ES"/>
          </a:p>
        </p:txBody>
      </p:sp>
      <p:sp>
        <p:nvSpPr>
          <p:cNvPr id="29" name="Text 27">
            <a:hlinkClick r:id="" action="ppaction://noaction"/>
          </p:cNvPr>
          <p:cNvSpPr txBox="1"/>
          <p:nvPr/>
        </p:nvSpPr>
        <p:spPr>
          <a:xfrm>
            <a:off x="548640" y="4937760"/>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 action="ppaction://noaction">
                  <a:extLst>
                    <a:ext uri="{A12FA001-AC4F-418D-AE19-62706E023703}">
                      <ahyp:hlinkClr xmlns:ahyp="http://schemas.microsoft.com/office/drawing/2018/hyperlinkcolor" val="tx"/>
                    </a:ext>
                  </a:extLst>
                </a:hlinkClick>
              </a:rPr>
              <a:t>06</a:t>
            </a:r>
            <a:endParaRPr lang="en-US" sz="2600" dirty="0"/>
          </a:p>
        </p:txBody>
      </p:sp>
      <p:sp>
        <p:nvSpPr>
          <p:cNvPr id="30" name="Shape 28"/>
          <p:cNvSpPr/>
          <p:nvPr/>
        </p:nvSpPr>
        <p:spPr>
          <a:xfrm>
            <a:off x="1508760" y="5074920"/>
            <a:ext cx="82296" cy="292608"/>
          </a:xfrm>
          <a:prstGeom prst="rect">
            <a:avLst/>
          </a:prstGeom>
          <a:solidFill>
            <a:srgbClr val="5FBE95"/>
          </a:solidFill>
          <a:ln/>
        </p:spPr>
        <p:txBody>
          <a:bodyPr/>
          <a:lstStyle/>
          <a:p>
            <a:endParaRPr lang="es-ES"/>
          </a:p>
        </p:txBody>
      </p:sp>
      <p:sp>
        <p:nvSpPr>
          <p:cNvPr id="31" name="Text 29">
            <a:hlinkClick r:id="" action="ppaction://noaction"/>
          </p:cNvPr>
          <p:cNvSpPr txBox="1"/>
          <p:nvPr/>
        </p:nvSpPr>
        <p:spPr>
          <a:xfrm>
            <a:off x="1737360" y="4937760"/>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Anexo: análisis crítico</a:t>
            </a:r>
            <a:endParaRPr lang="en-US" sz="1600" dirty="0"/>
          </a:p>
        </p:txBody>
      </p:sp>
      <p:sp>
        <p:nvSpPr>
          <p:cNvPr id="32" name="Shape 30">
            <a:hlinkClick r:id="" action="ppaction://noaction"/>
          </p:cNvPr>
          <p:cNvSpPr/>
          <p:nvPr/>
        </p:nvSpPr>
        <p:spPr>
          <a:xfrm>
            <a:off x="502920" y="4910328"/>
            <a:ext cx="10332720" cy="649224"/>
          </a:xfrm>
          <a:prstGeom prst="rect">
            <a:avLst/>
          </a:prstGeom>
          <a:ln/>
        </p:spPr>
        <p:txBody>
          <a:bodyPr/>
          <a:lstStyle/>
          <a:p>
            <a:endParaRPr lang="es-ES"/>
          </a:p>
        </p:txBody>
      </p:sp>
      <p:sp>
        <p:nvSpPr>
          <p:cNvPr id="33" name="Shape 31"/>
          <p:cNvSpPr/>
          <p:nvPr/>
        </p:nvSpPr>
        <p:spPr>
          <a:xfrm>
            <a:off x="548640" y="5541264"/>
            <a:ext cx="10241280" cy="0"/>
          </a:xfrm>
          <a:prstGeom prst="line">
            <a:avLst/>
          </a:prstGeom>
          <a:noFill/>
          <a:ln w="9525">
            <a:solidFill>
              <a:srgbClr val="343A52"/>
            </a:solidFill>
            <a:prstDash val="solid"/>
          </a:ln>
        </p:spPr>
        <p:txBody>
          <a:bodyPr/>
          <a:lstStyle/>
          <a:p>
            <a:endParaRPr lang="es-ES"/>
          </a:p>
        </p:txBody>
      </p:sp>
      <p:sp>
        <p:nvSpPr>
          <p:cNvPr id="34" name="Text 32">
            <a:hlinkClick r:id="" action="ppaction://noaction"/>
          </p:cNvPr>
          <p:cNvSpPr txBox="1"/>
          <p:nvPr/>
        </p:nvSpPr>
        <p:spPr>
          <a:xfrm>
            <a:off x="548640" y="5632704"/>
            <a:ext cx="914400" cy="548640"/>
          </a:xfrm>
          <a:prstGeom prst="rect">
            <a:avLst/>
          </a:prstGeom>
          <a:noFill/>
          <a:ln/>
        </p:spPr>
        <p:txBody>
          <a:bodyPr wrap="square" lIns="0" tIns="0" rIns="0" bIns="0" rtlCol="0" anchor="ctr"/>
          <a:lstStyle/>
          <a:p>
            <a:pPr marL="0" indent="0">
              <a:buNone/>
            </a:pPr>
            <a:r>
              <a:rPr lang="en-US" sz="2600" b="1" u="sng" dirty="0">
                <a:solidFill>
                  <a:srgbClr val="20263A"/>
                </a:solidFill>
                <a:latin typeface="Georgia" pitchFamily="34" charset="0"/>
                <a:ea typeface="Georgia" pitchFamily="34" charset="-122"/>
                <a:cs typeface="Georgia" pitchFamily="34" charset="-120"/>
                <a:hlinkClick r:id="" action="ppaction://noaction">
                  <a:extLst>
                    <a:ext uri="{A12FA001-AC4F-418D-AE19-62706E023703}">
                      <ahyp:hlinkClr xmlns:ahyp="http://schemas.microsoft.com/office/drawing/2018/hyperlinkcolor" val="tx"/>
                    </a:ext>
                  </a:extLst>
                </a:hlinkClick>
              </a:rPr>
              <a:t>07</a:t>
            </a:r>
            <a:endParaRPr lang="en-US" sz="2600" dirty="0"/>
          </a:p>
        </p:txBody>
      </p:sp>
      <p:sp>
        <p:nvSpPr>
          <p:cNvPr id="35" name="Shape 33"/>
          <p:cNvSpPr/>
          <p:nvPr/>
        </p:nvSpPr>
        <p:spPr>
          <a:xfrm>
            <a:off x="1508760" y="5769864"/>
            <a:ext cx="82296" cy="292608"/>
          </a:xfrm>
          <a:prstGeom prst="rect">
            <a:avLst/>
          </a:prstGeom>
          <a:solidFill>
            <a:srgbClr val="C9A24B"/>
          </a:solidFill>
          <a:ln/>
        </p:spPr>
        <p:txBody>
          <a:bodyPr/>
          <a:lstStyle/>
          <a:p>
            <a:endParaRPr lang="es-ES"/>
          </a:p>
        </p:txBody>
      </p:sp>
      <p:sp>
        <p:nvSpPr>
          <p:cNvPr id="36" name="Text 34">
            <a:hlinkClick r:id="" action="ppaction://noaction"/>
          </p:cNvPr>
          <p:cNvSpPr txBox="1"/>
          <p:nvPr/>
        </p:nvSpPr>
        <p:spPr>
          <a:xfrm>
            <a:off x="1737360" y="5632704"/>
            <a:ext cx="8686800" cy="548640"/>
          </a:xfrm>
          <a:prstGeom prst="rect">
            <a:avLst/>
          </a:prstGeom>
          <a:noFill/>
          <a:ln/>
        </p:spPr>
        <p:txBody>
          <a:bodyPr wrap="square" lIns="0" tIns="0" rIns="0" bIns="0" rtlCol="0" anchor="ctr"/>
          <a:lstStyle/>
          <a:p>
            <a:pPr marL="0" indent="0">
              <a:buNone/>
            </a:pPr>
            <a:r>
              <a:rPr lang="en-US" sz="1600" b="1" u="sng" dirty="0">
                <a:solidFill>
                  <a:srgbClr val="F4EFE4"/>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Anexo: verificación de fuentes</a:t>
            </a:r>
            <a:endParaRPr lang="en-US" sz="1600" dirty="0"/>
          </a:p>
        </p:txBody>
      </p:sp>
      <p:sp>
        <p:nvSpPr>
          <p:cNvPr id="37" name="Shape 35">
            <a:hlinkClick r:id="" action="ppaction://noaction"/>
          </p:cNvPr>
          <p:cNvSpPr/>
          <p:nvPr/>
        </p:nvSpPr>
        <p:spPr>
          <a:xfrm>
            <a:off x="502920" y="5605272"/>
            <a:ext cx="10332720" cy="649224"/>
          </a:xfrm>
          <a:prstGeom prst="rect">
            <a:avLst/>
          </a:prstGeom>
          <a:ln/>
        </p:spPr>
        <p:txBody>
          <a:bodyPr/>
          <a:lstStyle/>
          <a:p>
            <a:endParaRPr lang="es-ES"/>
          </a:p>
        </p:txBody>
      </p:sp>
      <p:sp>
        <p:nvSpPr>
          <p:cNvPr id="39" name="Text 37"/>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51F"/>
        </a:solidFill>
        <a:effectLst/>
      </p:bgPr>
    </p:bg>
    <p:spTree>
      <p:nvGrpSpPr>
        <p:cNvPr id="1" name=""/>
        <p:cNvGrpSpPr/>
        <p:nvPr/>
      </p:nvGrpSpPr>
      <p:grpSpPr>
        <a:xfrm>
          <a:off x="0" y="0"/>
          <a:ext cx="0" cy="0"/>
          <a:chOff x="0" y="0"/>
          <a:chExt cx="0" cy="0"/>
        </a:xfrm>
      </p:grpSpPr>
      <p:sp>
        <p:nvSpPr>
          <p:cNvPr id="3" name="Shape 1"/>
          <p:cNvSpPr/>
          <p:nvPr/>
        </p:nvSpPr>
        <p:spPr>
          <a:xfrm>
            <a:off x="502920" y="502920"/>
            <a:ext cx="82296" cy="384048"/>
          </a:xfrm>
          <a:prstGeom prst="rect">
            <a:avLst/>
          </a:prstGeom>
          <a:solidFill>
            <a:srgbClr val="8B93A6"/>
          </a:solidFill>
          <a:ln/>
        </p:spPr>
        <p:txBody>
          <a:bodyPr/>
          <a:lstStyle/>
          <a:p>
            <a:endParaRPr lang="es-ES"/>
          </a:p>
        </p:txBody>
      </p:sp>
      <p:sp>
        <p:nvSpPr>
          <p:cNvPr id="4" name="Text 2"/>
          <p:cNvSpPr txBox="1"/>
          <p:nvPr/>
        </p:nvSpPr>
        <p:spPr>
          <a:xfrm>
            <a:off x="685800" y="457200"/>
            <a:ext cx="2743200" cy="457200"/>
          </a:xfrm>
          <a:prstGeom prst="rect">
            <a:avLst/>
          </a:prstGeom>
          <a:noFill/>
          <a:ln/>
        </p:spPr>
        <p:txBody>
          <a:bodyPr wrap="square" lIns="0" tIns="0" rIns="0" bIns="0" rtlCol="0" anchor="ctr"/>
          <a:lstStyle/>
          <a:p>
            <a:pPr marL="0" indent="0">
              <a:buNone/>
            </a:pPr>
            <a:r>
              <a:rPr lang="en-US" sz="1300" b="1" kern="0" spc="150" dirty="0">
                <a:solidFill>
                  <a:srgbClr val="8B93A6"/>
                </a:solidFill>
                <a:latin typeface="Calibri" pitchFamily="34" charset="0"/>
                <a:ea typeface="Calibri" pitchFamily="34" charset="-122"/>
                <a:cs typeface="Calibri" pitchFamily="34" charset="-120"/>
              </a:rPr>
              <a:t>WEB 1.0</a:t>
            </a:r>
            <a:endParaRPr lang="en-US" sz="1300" dirty="0"/>
          </a:p>
        </p:txBody>
      </p:sp>
      <p:sp>
        <p:nvSpPr>
          <p:cNvPr id="5" name="Text 3"/>
          <p:cNvSpPr txBox="1"/>
          <p:nvPr/>
        </p:nvSpPr>
        <p:spPr>
          <a:xfrm>
            <a:off x="502920" y="868680"/>
            <a:ext cx="7040880" cy="914400"/>
          </a:xfrm>
          <a:prstGeom prst="rect">
            <a:avLst/>
          </a:prstGeom>
          <a:noFill/>
          <a:ln/>
        </p:spPr>
        <p:txBody>
          <a:bodyPr wrap="square" lIns="0" tIns="0" rIns="0" bIns="0" rtlCol="0" anchor="t"/>
          <a:lstStyle/>
          <a:p>
            <a:pPr marL="0" indent="0">
              <a:lnSpc>
                <a:spcPts val="3000"/>
              </a:lnSpc>
              <a:buNone/>
            </a:pPr>
            <a:r>
              <a:rPr lang="en-US" sz="2600" b="1" dirty="0">
                <a:solidFill>
                  <a:srgbClr val="F4EFE4"/>
                </a:solidFill>
                <a:latin typeface="Georgia" pitchFamily="34" charset="0"/>
                <a:ea typeface="Georgia" pitchFamily="34" charset="-122"/>
                <a:cs typeface="Georgia" pitchFamily="34" charset="-120"/>
              </a:rPr>
              <a:t>La web de solo lectura</a:t>
            </a:r>
            <a:endParaRPr lang="en-US" sz="2600" dirty="0"/>
          </a:p>
        </p:txBody>
      </p:sp>
      <p:sp>
        <p:nvSpPr>
          <p:cNvPr id="6" name="Text 4"/>
          <p:cNvSpPr txBox="1"/>
          <p:nvPr/>
        </p:nvSpPr>
        <p:spPr>
          <a:xfrm>
            <a:off x="521208" y="1810512"/>
            <a:ext cx="4572000" cy="274320"/>
          </a:xfrm>
          <a:prstGeom prst="rect">
            <a:avLst/>
          </a:prstGeom>
          <a:noFill/>
          <a:ln/>
        </p:spPr>
        <p:txBody>
          <a:bodyPr wrap="square" lIns="0" tIns="0" rIns="0" bIns="0" rtlCol="0" anchor="ctr"/>
          <a:lstStyle/>
          <a:p>
            <a:pPr marL="0" indent="0">
              <a:buNone/>
            </a:pPr>
            <a:r>
              <a:rPr lang="en-US" sz="1150" i="1" dirty="0">
                <a:solidFill>
                  <a:srgbClr val="9498AC"/>
                </a:solidFill>
                <a:latin typeface="Calibri" pitchFamily="34" charset="0"/>
                <a:ea typeface="Calibri" pitchFamily="34" charset="-122"/>
                <a:cs typeface="Calibri" pitchFamily="34" charset="-120"/>
              </a:rPr>
              <a:t>≈ 1991 – 2004</a:t>
            </a:r>
            <a:endParaRPr lang="en-US" sz="1150" dirty="0"/>
          </a:p>
        </p:txBody>
      </p:sp>
      <p:sp>
        <p:nvSpPr>
          <p:cNvPr id="7" name="Text 5"/>
          <p:cNvSpPr txBox="1"/>
          <p:nvPr/>
        </p:nvSpPr>
        <p:spPr>
          <a:xfrm>
            <a:off x="502920" y="2121408"/>
            <a:ext cx="6949440" cy="640080"/>
          </a:xfrm>
          <a:prstGeom prst="rect">
            <a:avLst/>
          </a:prstGeom>
          <a:noFill/>
          <a:ln/>
        </p:spPr>
        <p:txBody>
          <a:bodyPr wrap="square" lIns="0" tIns="0" rIns="0" bIns="0" rtlCol="0" anchor="t"/>
          <a:lstStyle/>
          <a:p>
            <a:pPr marL="0" indent="0">
              <a:lnSpc>
                <a:spcPts val="1700"/>
              </a:lnSpc>
              <a:buNone/>
            </a:pPr>
            <a:r>
              <a:rPr lang="en-US" sz="1350" i="1" dirty="0">
                <a:solidFill>
                  <a:srgbClr val="F4EFE4"/>
                </a:solidFill>
                <a:latin typeface="Calibri" pitchFamily="34" charset="0"/>
                <a:ea typeface="Calibri" pitchFamily="34" charset="-122"/>
                <a:cs typeface="Calibri" pitchFamily="34" charset="-120"/>
              </a:rPr>
              <a:t>Páginas estáticas pensadas para publicar y leer información, sin posibilidad de interactuar con ellas.</a:t>
            </a:r>
            <a:endParaRPr lang="en-US" sz="1350" dirty="0"/>
          </a:p>
        </p:txBody>
      </p:sp>
      <p:sp>
        <p:nvSpPr>
          <p:cNvPr id="8" name="Shape 6"/>
          <p:cNvSpPr/>
          <p:nvPr/>
        </p:nvSpPr>
        <p:spPr>
          <a:xfrm>
            <a:off x="502920" y="2788920"/>
            <a:ext cx="11201400" cy="3566160"/>
          </a:xfrm>
          <a:prstGeom prst="rect">
            <a:avLst/>
          </a:prstGeom>
          <a:solidFill>
            <a:srgbClr val="1C2030"/>
          </a:solidFill>
          <a:ln/>
        </p:spPr>
        <p:txBody>
          <a:bodyPr/>
          <a:lstStyle/>
          <a:p>
            <a:endParaRPr lang="es-ES"/>
          </a:p>
        </p:txBody>
      </p:sp>
      <p:sp>
        <p:nvSpPr>
          <p:cNvPr id="9" name="Shape 7"/>
          <p:cNvSpPr/>
          <p:nvPr/>
        </p:nvSpPr>
        <p:spPr>
          <a:xfrm>
            <a:off x="6103620" y="2788920"/>
            <a:ext cx="0" cy="3566160"/>
          </a:xfrm>
          <a:prstGeom prst="line">
            <a:avLst/>
          </a:prstGeom>
          <a:noFill/>
          <a:ln w="9525">
            <a:solidFill>
              <a:srgbClr val="343A52"/>
            </a:solidFill>
            <a:prstDash val="solid"/>
          </a:ln>
        </p:spPr>
        <p:txBody>
          <a:bodyPr/>
          <a:lstStyle/>
          <a:p>
            <a:endParaRPr lang="es-ES"/>
          </a:p>
        </p:txBody>
      </p:sp>
      <p:sp>
        <p:nvSpPr>
          <p:cNvPr id="10" name="Shape 8"/>
          <p:cNvSpPr/>
          <p:nvPr/>
        </p:nvSpPr>
        <p:spPr>
          <a:xfrm>
            <a:off x="502920" y="4572000"/>
            <a:ext cx="11201400" cy="0"/>
          </a:xfrm>
          <a:prstGeom prst="line">
            <a:avLst/>
          </a:prstGeom>
          <a:noFill/>
          <a:ln w="9525">
            <a:solidFill>
              <a:srgbClr val="343A52"/>
            </a:solidFill>
            <a:prstDash val="solid"/>
          </a:ln>
        </p:spPr>
        <p:txBody>
          <a:bodyPr/>
          <a:lstStyle/>
          <a:p>
            <a:endParaRPr lang="es-ES"/>
          </a:p>
        </p:txBody>
      </p:sp>
      <p:sp>
        <p:nvSpPr>
          <p:cNvPr id="11" name="Shape 9"/>
          <p:cNvSpPr/>
          <p:nvPr/>
        </p:nvSpPr>
        <p:spPr>
          <a:xfrm>
            <a:off x="868680" y="3063240"/>
            <a:ext cx="384048" cy="384048"/>
          </a:xfrm>
          <a:prstGeom prst="rect">
            <a:avLst/>
          </a:prstGeom>
          <a:solidFill>
            <a:srgbClr val="8B93A6"/>
          </a:solidFill>
          <a:ln/>
        </p:spPr>
        <p:txBody>
          <a:bodyPr/>
          <a:lstStyle/>
          <a:p>
            <a:endParaRPr lang="es-ES"/>
          </a:p>
        </p:txBody>
      </p:sp>
      <p:pic>
        <p:nvPicPr>
          <p:cNvPr id="12" name="Image 0" descr="/home/claude/webevo_v2/icons/list_FFFFFF.png"/>
          <p:cNvPicPr>
            <a:picLocks noChangeAspect="1"/>
          </p:cNvPicPr>
          <p:nvPr/>
        </p:nvPicPr>
        <p:blipFill>
          <a:blip r:embed="rId3"/>
          <a:stretch>
            <a:fillRect/>
          </a:stretch>
        </p:blipFill>
        <p:spPr>
          <a:xfrm>
            <a:off x="960852" y="3155412"/>
            <a:ext cx="199705" cy="199705"/>
          </a:xfrm>
          <a:prstGeom prst="rect">
            <a:avLst/>
          </a:prstGeom>
        </p:spPr>
      </p:pic>
      <p:sp>
        <p:nvSpPr>
          <p:cNvPr id="13" name="Text 10"/>
          <p:cNvSpPr txBox="1"/>
          <p:nvPr/>
        </p:nvSpPr>
        <p:spPr>
          <a:xfrm>
            <a:off x="13990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Características</a:t>
            </a:r>
            <a:endParaRPr lang="en-US" sz="1350" dirty="0"/>
          </a:p>
        </p:txBody>
      </p:sp>
      <p:sp>
        <p:nvSpPr>
          <p:cNvPr id="14" name="Text 11"/>
          <p:cNvSpPr txBox="1"/>
          <p:nvPr/>
        </p:nvSpPr>
        <p:spPr>
          <a:xfrm>
            <a:off x="8686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Contenido estático y fijo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Comunicación en un solo sentido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Diseño simple, basado en tablas</a:t>
            </a:r>
            <a:endParaRPr lang="en-US" sz="1150" dirty="0"/>
          </a:p>
        </p:txBody>
      </p:sp>
      <p:sp>
        <p:nvSpPr>
          <p:cNvPr id="15" name="Shape 12"/>
          <p:cNvSpPr/>
          <p:nvPr/>
        </p:nvSpPr>
        <p:spPr>
          <a:xfrm>
            <a:off x="6469380" y="3063240"/>
            <a:ext cx="384048" cy="384048"/>
          </a:xfrm>
          <a:prstGeom prst="rect">
            <a:avLst/>
          </a:prstGeom>
          <a:solidFill>
            <a:srgbClr val="8B93A6"/>
          </a:solidFill>
          <a:ln/>
        </p:spPr>
        <p:txBody>
          <a:bodyPr/>
          <a:lstStyle/>
          <a:p>
            <a:endParaRPr lang="es-ES"/>
          </a:p>
        </p:txBody>
      </p:sp>
      <p:pic>
        <p:nvPicPr>
          <p:cNvPr id="16" name="Image 1" descr="/home/claude/webevo_v2/icons/code_FFFFFF.png"/>
          <p:cNvPicPr>
            <a:picLocks noChangeAspect="1"/>
          </p:cNvPicPr>
          <p:nvPr/>
        </p:nvPicPr>
        <p:blipFill>
          <a:blip r:embed="rId4"/>
          <a:stretch>
            <a:fillRect/>
          </a:stretch>
        </p:blipFill>
        <p:spPr>
          <a:xfrm>
            <a:off x="6561552" y="3155412"/>
            <a:ext cx="199705" cy="199705"/>
          </a:xfrm>
          <a:prstGeom prst="rect">
            <a:avLst/>
          </a:prstGeom>
        </p:spPr>
      </p:pic>
      <p:sp>
        <p:nvSpPr>
          <p:cNvPr id="17" name="Text 13"/>
          <p:cNvSpPr txBox="1"/>
          <p:nvPr/>
        </p:nvSpPr>
        <p:spPr>
          <a:xfrm>
            <a:off x="69997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Tecnologías representativas</a:t>
            </a:r>
            <a:endParaRPr lang="en-US" sz="1350" dirty="0"/>
          </a:p>
        </p:txBody>
      </p:sp>
      <p:sp>
        <p:nvSpPr>
          <p:cNvPr id="18" name="Text 14"/>
          <p:cNvSpPr txBox="1"/>
          <p:nvPr/>
        </p:nvSpPr>
        <p:spPr>
          <a:xfrm>
            <a:off x="64693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HTML básico, sin CSS avanzado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Primeros navegadores (Mosaic, Netscape)</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Sin bases de datos dinámicas</a:t>
            </a:r>
            <a:endParaRPr lang="en-US" sz="1150" dirty="0"/>
          </a:p>
        </p:txBody>
      </p:sp>
      <p:sp>
        <p:nvSpPr>
          <p:cNvPr id="19" name="Shape 15"/>
          <p:cNvSpPr/>
          <p:nvPr/>
        </p:nvSpPr>
        <p:spPr>
          <a:xfrm>
            <a:off x="868680" y="4791456"/>
            <a:ext cx="384048" cy="384048"/>
          </a:xfrm>
          <a:prstGeom prst="rect">
            <a:avLst/>
          </a:prstGeom>
          <a:solidFill>
            <a:srgbClr val="8B93A6"/>
          </a:solidFill>
          <a:ln/>
        </p:spPr>
        <p:txBody>
          <a:bodyPr/>
          <a:lstStyle/>
          <a:p>
            <a:endParaRPr lang="es-ES"/>
          </a:p>
        </p:txBody>
      </p:sp>
      <p:pic>
        <p:nvPicPr>
          <p:cNvPr id="20" name="Image 2" descr="/home/claude/webevo_v2/icons/cursor_FFFFFF.png"/>
          <p:cNvPicPr>
            <a:picLocks noChangeAspect="1"/>
          </p:cNvPicPr>
          <p:nvPr/>
        </p:nvPicPr>
        <p:blipFill>
          <a:blip r:embed="rId5"/>
          <a:stretch>
            <a:fillRect/>
          </a:stretch>
        </p:blipFill>
        <p:spPr>
          <a:xfrm>
            <a:off x="960852" y="4883628"/>
            <a:ext cx="199705" cy="199705"/>
          </a:xfrm>
          <a:prstGeom prst="rect">
            <a:avLst/>
          </a:prstGeom>
        </p:spPr>
      </p:pic>
      <p:sp>
        <p:nvSpPr>
          <p:cNvPr id="21" name="Text 16"/>
          <p:cNvSpPr txBox="1"/>
          <p:nvPr/>
        </p:nvSpPr>
        <p:spPr>
          <a:xfrm>
            <a:off x="13990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Interacción del usuario</a:t>
            </a:r>
            <a:endParaRPr lang="en-US" sz="1350" dirty="0"/>
          </a:p>
        </p:txBody>
      </p:sp>
      <p:sp>
        <p:nvSpPr>
          <p:cNvPr id="22" name="Text 17"/>
          <p:cNvSpPr txBox="1"/>
          <p:nvPr/>
        </p:nvSpPr>
        <p:spPr>
          <a:xfrm>
            <a:off x="8686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Usuario lector, no creador</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Sin cuentas ni perfiles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Navegación por hipervínculos</a:t>
            </a:r>
            <a:endParaRPr lang="en-US" sz="1150" dirty="0"/>
          </a:p>
        </p:txBody>
      </p:sp>
      <p:sp>
        <p:nvSpPr>
          <p:cNvPr id="23" name="Shape 18"/>
          <p:cNvSpPr/>
          <p:nvPr/>
        </p:nvSpPr>
        <p:spPr>
          <a:xfrm>
            <a:off x="6469380" y="4791456"/>
            <a:ext cx="384048" cy="384048"/>
          </a:xfrm>
          <a:prstGeom prst="rect">
            <a:avLst/>
          </a:prstGeom>
          <a:solidFill>
            <a:srgbClr val="8B93A6"/>
          </a:solidFill>
          <a:ln/>
        </p:spPr>
        <p:txBody>
          <a:bodyPr/>
          <a:lstStyle/>
          <a:p>
            <a:endParaRPr lang="es-ES"/>
          </a:p>
        </p:txBody>
      </p:sp>
      <p:pic>
        <p:nvPicPr>
          <p:cNvPr id="24" name="Image 3" descr="/home/claude/webevo_v2/icons/grid_FFFFFF.png"/>
          <p:cNvPicPr>
            <a:picLocks noChangeAspect="1"/>
          </p:cNvPicPr>
          <p:nvPr/>
        </p:nvPicPr>
        <p:blipFill>
          <a:blip r:embed="rId6"/>
          <a:stretch>
            <a:fillRect/>
          </a:stretch>
        </p:blipFill>
        <p:spPr>
          <a:xfrm>
            <a:off x="6561552" y="4883628"/>
            <a:ext cx="199705" cy="199705"/>
          </a:xfrm>
          <a:prstGeom prst="rect">
            <a:avLst/>
          </a:prstGeom>
        </p:spPr>
      </p:pic>
      <p:sp>
        <p:nvSpPr>
          <p:cNvPr id="25" name="Text 19"/>
          <p:cNvSpPr txBox="1"/>
          <p:nvPr/>
        </p:nvSpPr>
        <p:spPr>
          <a:xfrm>
            <a:off x="69997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Ejemplos representativos</a:t>
            </a:r>
            <a:endParaRPr lang="en-US" sz="1350" dirty="0"/>
          </a:p>
        </p:txBody>
      </p:sp>
      <p:sp>
        <p:nvSpPr>
          <p:cNvPr id="26" name="Text 20"/>
          <p:cNvSpPr txBox="1"/>
          <p:nvPr/>
        </p:nvSpPr>
        <p:spPr>
          <a:xfrm>
            <a:off x="64693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GeoCities y páginas personales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Directorio de Yahoo!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Primeras webs corporativas</a:t>
            </a:r>
            <a:endParaRPr lang="en-US" sz="1150" dirty="0"/>
          </a:p>
        </p:txBody>
      </p:sp>
      <p:sp>
        <p:nvSpPr>
          <p:cNvPr id="28" name="Text 22"/>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51F"/>
        </a:solidFill>
        <a:effectLst/>
      </p:bgPr>
    </p:bg>
    <p:spTree>
      <p:nvGrpSpPr>
        <p:cNvPr id="1" name=""/>
        <p:cNvGrpSpPr/>
        <p:nvPr/>
      </p:nvGrpSpPr>
      <p:grpSpPr>
        <a:xfrm>
          <a:off x="0" y="0"/>
          <a:ext cx="0" cy="0"/>
          <a:chOff x="0" y="0"/>
          <a:chExt cx="0" cy="0"/>
        </a:xfrm>
      </p:grpSpPr>
      <p:sp>
        <p:nvSpPr>
          <p:cNvPr id="3" name="Shape 1"/>
          <p:cNvSpPr/>
          <p:nvPr/>
        </p:nvSpPr>
        <p:spPr>
          <a:xfrm>
            <a:off x="502920" y="502920"/>
            <a:ext cx="82296" cy="384048"/>
          </a:xfrm>
          <a:prstGeom prst="rect">
            <a:avLst/>
          </a:prstGeom>
          <a:solidFill>
            <a:srgbClr val="4FA98B"/>
          </a:solidFill>
          <a:ln/>
        </p:spPr>
        <p:txBody>
          <a:bodyPr/>
          <a:lstStyle/>
          <a:p>
            <a:endParaRPr lang="es-ES"/>
          </a:p>
        </p:txBody>
      </p:sp>
      <p:sp>
        <p:nvSpPr>
          <p:cNvPr id="4" name="Text 2"/>
          <p:cNvSpPr txBox="1"/>
          <p:nvPr/>
        </p:nvSpPr>
        <p:spPr>
          <a:xfrm>
            <a:off x="685800" y="457200"/>
            <a:ext cx="2743200" cy="457200"/>
          </a:xfrm>
          <a:prstGeom prst="rect">
            <a:avLst/>
          </a:prstGeom>
          <a:noFill/>
          <a:ln/>
        </p:spPr>
        <p:txBody>
          <a:bodyPr wrap="square" lIns="0" tIns="0" rIns="0" bIns="0" rtlCol="0" anchor="ctr"/>
          <a:lstStyle/>
          <a:p>
            <a:pPr marL="0" indent="0">
              <a:buNone/>
            </a:pPr>
            <a:r>
              <a:rPr lang="en-US" sz="1300" b="1" kern="0" spc="150" dirty="0">
                <a:solidFill>
                  <a:srgbClr val="4FA98B"/>
                </a:solidFill>
                <a:latin typeface="Calibri" pitchFamily="34" charset="0"/>
                <a:ea typeface="Calibri" pitchFamily="34" charset="-122"/>
                <a:cs typeface="Calibri" pitchFamily="34" charset="-120"/>
              </a:rPr>
              <a:t>WEB 2.0</a:t>
            </a:r>
            <a:endParaRPr lang="en-US" sz="1300" dirty="0"/>
          </a:p>
        </p:txBody>
      </p:sp>
      <p:sp>
        <p:nvSpPr>
          <p:cNvPr id="5" name="Text 3"/>
          <p:cNvSpPr txBox="1"/>
          <p:nvPr/>
        </p:nvSpPr>
        <p:spPr>
          <a:xfrm>
            <a:off x="502920" y="868680"/>
            <a:ext cx="7040880" cy="914400"/>
          </a:xfrm>
          <a:prstGeom prst="rect">
            <a:avLst/>
          </a:prstGeom>
          <a:noFill/>
          <a:ln/>
        </p:spPr>
        <p:txBody>
          <a:bodyPr wrap="square" lIns="0" tIns="0" rIns="0" bIns="0" rtlCol="0" anchor="t"/>
          <a:lstStyle/>
          <a:p>
            <a:pPr marL="0" indent="0">
              <a:lnSpc>
                <a:spcPts val="3000"/>
              </a:lnSpc>
              <a:buNone/>
            </a:pPr>
            <a:r>
              <a:rPr lang="en-US" sz="2600" b="1" dirty="0">
                <a:solidFill>
                  <a:srgbClr val="F4EFE4"/>
                </a:solidFill>
                <a:latin typeface="Georgia" pitchFamily="34" charset="0"/>
                <a:ea typeface="Georgia" pitchFamily="34" charset="-122"/>
                <a:cs typeface="Georgia" pitchFamily="34" charset="-120"/>
              </a:rPr>
              <a:t>La web social y participativa</a:t>
            </a:r>
            <a:endParaRPr lang="en-US" sz="2600" dirty="0"/>
          </a:p>
        </p:txBody>
      </p:sp>
      <p:sp>
        <p:nvSpPr>
          <p:cNvPr id="6" name="Text 4"/>
          <p:cNvSpPr txBox="1"/>
          <p:nvPr/>
        </p:nvSpPr>
        <p:spPr>
          <a:xfrm>
            <a:off x="521208" y="1810512"/>
            <a:ext cx="4572000" cy="274320"/>
          </a:xfrm>
          <a:prstGeom prst="rect">
            <a:avLst/>
          </a:prstGeom>
          <a:noFill/>
          <a:ln/>
        </p:spPr>
        <p:txBody>
          <a:bodyPr wrap="square" lIns="0" tIns="0" rIns="0" bIns="0" rtlCol="0" anchor="ctr"/>
          <a:lstStyle/>
          <a:p>
            <a:pPr marL="0" indent="0">
              <a:buNone/>
            </a:pPr>
            <a:r>
              <a:rPr lang="en-US" sz="1150" i="1" dirty="0">
                <a:solidFill>
                  <a:srgbClr val="9498AC"/>
                </a:solidFill>
                <a:latin typeface="Calibri" pitchFamily="34" charset="0"/>
                <a:ea typeface="Calibri" pitchFamily="34" charset="-122"/>
                <a:cs typeface="Calibri" pitchFamily="34" charset="-120"/>
              </a:rPr>
              <a:t>≈ 2004 – 2010</a:t>
            </a:r>
            <a:endParaRPr lang="en-US" sz="1150" dirty="0"/>
          </a:p>
        </p:txBody>
      </p:sp>
      <p:sp>
        <p:nvSpPr>
          <p:cNvPr id="7" name="Text 5"/>
          <p:cNvSpPr txBox="1"/>
          <p:nvPr/>
        </p:nvSpPr>
        <p:spPr>
          <a:xfrm>
            <a:off x="502920" y="2121408"/>
            <a:ext cx="6949440" cy="640080"/>
          </a:xfrm>
          <a:prstGeom prst="rect">
            <a:avLst/>
          </a:prstGeom>
          <a:noFill/>
          <a:ln/>
        </p:spPr>
        <p:txBody>
          <a:bodyPr wrap="square" lIns="0" tIns="0" rIns="0" bIns="0" rtlCol="0" anchor="t"/>
          <a:lstStyle/>
          <a:p>
            <a:pPr marL="0" indent="0">
              <a:lnSpc>
                <a:spcPts val="1700"/>
              </a:lnSpc>
              <a:buNone/>
            </a:pPr>
            <a:r>
              <a:rPr lang="en-US" sz="1350" i="1" dirty="0">
                <a:solidFill>
                  <a:srgbClr val="F4EFE4"/>
                </a:solidFill>
                <a:latin typeface="Calibri" pitchFamily="34" charset="0"/>
                <a:ea typeface="Calibri" pitchFamily="34" charset="-122"/>
                <a:cs typeface="Calibri" pitchFamily="34" charset="-120"/>
              </a:rPr>
              <a:t>El usuario deja de ser solo lector: ahora crea, comparte y opina. Nace la web de lectura y escritura.</a:t>
            </a:r>
            <a:endParaRPr lang="en-US" sz="1350" dirty="0"/>
          </a:p>
        </p:txBody>
      </p:sp>
      <p:sp>
        <p:nvSpPr>
          <p:cNvPr id="8" name="Shape 6"/>
          <p:cNvSpPr/>
          <p:nvPr/>
        </p:nvSpPr>
        <p:spPr>
          <a:xfrm>
            <a:off x="502920" y="2788920"/>
            <a:ext cx="11201400" cy="3566160"/>
          </a:xfrm>
          <a:prstGeom prst="rect">
            <a:avLst/>
          </a:prstGeom>
          <a:solidFill>
            <a:srgbClr val="1C2030"/>
          </a:solidFill>
          <a:ln/>
        </p:spPr>
        <p:txBody>
          <a:bodyPr/>
          <a:lstStyle/>
          <a:p>
            <a:endParaRPr lang="es-ES"/>
          </a:p>
        </p:txBody>
      </p:sp>
      <p:sp>
        <p:nvSpPr>
          <p:cNvPr id="9" name="Shape 7"/>
          <p:cNvSpPr/>
          <p:nvPr/>
        </p:nvSpPr>
        <p:spPr>
          <a:xfrm>
            <a:off x="6103620" y="2788920"/>
            <a:ext cx="0" cy="3566160"/>
          </a:xfrm>
          <a:prstGeom prst="line">
            <a:avLst/>
          </a:prstGeom>
          <a:noFill/>
          <a:ln w="9525">
            <a:solidFill>
              <a:srgbClr val="343A52"/>
            </a:solidFill>
            <a:prstDash val="solid"/>
          </a:ln>
        </p:spPr>
        <p:txBody>
          <a:bodyPr/>
          <a:lstStyle/>
          <a:p>
            <a:endParaRPr lang="es-ES"/>
          </a:p>
        </p:txBody>
      </p:sp>
      <p:sp>
        <p:nvSpPr>
          <p:cNvPr id="10" name="Shape 8"/>
          <p:cNvSpPr/>
          <p:nvPr/>
        </p:nvSpPr>
        <p:spPr>
          <a:xfrm>
            <a:off x="502920" y="4572000"/>
            <a:ext cx="11201400" cy="0"/>
          </a:xfrm>
          <a:prstGeom prst="line">
            <a:avLst/>
          </a:prstGeom>
          <a:noFill/>
          <a:ln w="9525">
            <a:solidFill>
              <a:srgbClr val="343A52"/>
            </a:solidFill>
            <a:prstDash val="solid"/>
          </a:ln>
        </p:spPr>
        <p:txBody>
          <a:bodyPr/>
          <a:lstStyle/>
          <a:p>
            <a:endParaRPr lang="es-ES"/>
          </a:p>
        </p:txBody>
      </p:sp>
      <p:sp>
        <p:nvSpPr>
          <p:cNvPr id="11" name="Shape 9"/>
          <p:cNvSpPr/>
          <p:nvPr/>
        </p:nvSpPr>
        <p:spPr>
          <a:xfrm>
            <a:off x="868680" y="3063240"/>
            <a:ext cx="384048" cy="384048"/>
          </a:xfrm>
          <a:prstGeom prst="rect">
            <a:avLst/>
          </a:prstGeom>
          <a:solidFill>
            <a:srgbClr val="4FA98B"/>
          </a:solidFill>
          <a:ln/>
        </p:spPr>
        <p:txBody>
          <a:bodyPr/>
          <a:lstStyle/>
          <a:p>
            <a:endParaRPr lang="es-ES"/>
          </a:p>
        </p:txBody>
      </p:sp>
      <p:pic>
        <p:nvPicPr>
          <p:cNvPr id="12" name="Image 0" descr="/home/claude/webevo_v2/icons/list_FFFFFF.png"/>
          <p:cNvPicPr>
            <a:picLocks noChangeAspect="1"/>
          </p:cNvPicPr>
          <p:nvPr/>
        </p:nvPicPr>
        <p:blipFill>
          <a:blip r:embed="rId3"/>
          <a:stretch>
            <a:fillRect/>
          </a:stretch>
        </p:blipFill>
        <p:spPr>
          <a:xfrm>
            <a:off x="960852" y="3155412"/>
            <a:ext cx="199705" cy="199705"/>
          </a:xfrm>
          <a:prstGeom prst="rect">
            <a:avLst/>
          </a:prstGeom>
        </p:spPr>
      </p:pic>
      <p:sp>
        <p:nvSpPr>
          <p:cNvPr id="13" name="Text 10"/>
          <p:cNvSpPr txBox="1"/>
          <p:nvPr/>
        </p:nvSpPr>
        <p:spPr>
          <a:xfrm>
            <a:off x="13990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Características</a:t>
            </a:r>
            <a:endParaRPr lang="en-US" sz="1350" dirty="0"/>
          </a:p>
        </p:txBody>
      </p:sp>
      <p:sp>
        <p:nvSpPr>
          <p:cNvPr id="14" name="Text 11"/>
          <p:cNvSpPr txBox="1"/>
          <p:nvPr/>
        </p:nvSpPr>
        <p:spPr>
          <a:xfrm>
            <a:off x="8686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Contenido dinámico y generado por usuarios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Redes sociales, blogs y wikis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Aplicaciones más ricas e interactivas</a:t>
            </a:r>
            <a:endParaRPr lang="en-US" sz="1150" dirty="0"/>
          </a:p>
        </p:txBody>
      </p:sp>
      <p:sp>
        <p:nvSpPr>
          <p:cNvPr id="15" name="Shape 12"/>
          <p:cNvSpPr/>
          <p:nvPr/>
        </p:nvSpPr>
        <p:spPr>
          <a:xfrm>
            <a:off x="6469380" y="3063240"/>
            <a:ext cx="384048" cy="384048"/>
          </a:xfrm>
          <a:prstGeom prst="rect">
            <a:avLst/>
          </a:prstGeom>
          <a:solidFill>
            <a:srgbClr val="4FA98B"/>
          </a:solidFill>
          <a:ln/>
        </p:spPr>
        <p:txBody>
          <a:bodyPr/>
          <a:lstStyle/>
          <a:p>
            <a:endParaRPr lang="es-ES"/>
          </a:p>
        </p:txBody>
      </p:sp>
      <p:pic>
        <p:nvPicPr>
          <p:cNvPr id="16" name="Image 1" descr="/home/claude/webevo_v2/icons/code_FFFFFF.png"/>
          <p:cNvPicPr>
            <a:picLocks noChangeAspect="1"/>
          </p:cNvPicPr>
          <p:nvPr/>
        </p:nvPicPr>
        <p:blipFill>
          <a:blip r:embed="rId4"/>
          <a:stretch>
            <a:fillRect/>
          </a:stretch>
        </p:blipFill>
        <p:spPr>
          <a:xfrm>
            <a:off x="6561552" y="3155412"/>
            <a:ext cx="199705" cy="199705"/>
          </a:xfrm>
          <a:prstGeom prst="rect">
            <a:avLst/>
          </a:prstGeom>
        </p:spPr>
      </p:pic>
      <p:sp>
        <p:nvSpPr>
          <p:cNvPr id="17" name="Text 13"/>
          <p:cNvSpPr txBox="1"/>
          <p:nvPr/>
        </p:nvSpPr>
        <p:spPr>
          <a:xfrm>
            <a:off x="69997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Tecnologías representativas</a:t>
            </a:r>
            <a:endParaRPr lang="en-US" sz="1350" dirty="0"/>
          </a:p>
        </p:txBody>
      </p:sp>
      <p:sp>
        <p:nvSpPr>
          <p:cNvPr id="18" name="Text 14"/>
          <p:cNvSpPr txBox="1"/>
          <p:nvPr/>
        </p:nvSpPr>
        <p:spPr>
          <a:xfrm>
            <a:off x="64693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AJAX y JavaScript avanzado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APIs, RSS y servicios web</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Bases de datos dinámicas y CMS</a:t>
            </a:r>
            <a:endParaRPr lang="en-US" sz="1150" dirty="0"/>
          </a:p>
        </p:txBody>
      </p:sp>
      <p:sp>
        <p:nvSpPr>
          <p:cNvPr id="19" name="Shape 15"/>
          <p:cNvSpPr/>
          <p:nvPr/>
        </p:nvSpPr>
        <p:spPr>
          <a:xfrm>
            <a:off x="868680" y="4791456"/>
            <a:ext cx="384048" cy="384048"/>
          </a:xfrm>
          <a:prstGeom prst="rect">
            <a:avLst/>
          </a:prstGeom>
          <a:solidFill>
            <a:srgbClr val="4FA98B"/>
          </a:solidFill>
          <a:ln/>
        </p:spPr>
        <p:txBody>
          <a:bodyPr/>
          <a:lstStyle/>
          <a:p>
            <a:endParaRPr lang="es-ES"/>
          </a:p>
        </p:txBody>
      </p:sp>
      <p:pic>
        <p:nvPicPr>
          <p:cNvPr id="20" name="Image 2" descr="/home/claude/webevo_v2/icons/cursor_FFFFFF.png"/>
          <p:cNvPicPr>
            <a:picLocks noChangeAspect="1"/>
          </p:cNvPicPr>
          <p:nvPr/>
        </p:nvPicPr>
        <p:blipFill>
          <a:blip r:embed="rId5"/>
          <a:stretch>
            <a:fillRect/>
          </a:stretch>
        </p:blipFill>
        <p:spPr>
          <a:xfrm>
            <a:off x="960852" y="4883628"/>
            <a:ext cx="199705" cy="199705"/>
          </a:xfrm>
          <a:prstGeom prst="rect">
            <a:avLst/>
          </a:prstGeom>
        </p:spPr>
      </p:pic>
      <p:sp>
        <p:nvSpPr>
          <p:cNvPr id="21" name="Text 16"/>
          <p:cNvSpPr txBox="1"/>
          <p:nvPr/>
        </p:nvSpPr>
        <p:spPr>
          <a:xfrm>
            <a:off x="13990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Interacción del usuario</a:t>
            </a:r>
            <a:endParaRPr lang="en-US" sz="1350" dirty="0"/>
          </a:p>
        </p:txBody>
      </p:sp>
      <p:sp>
        <p:nvSpPr>
          <p:cNvPr id="22" name="Text 17"/>
          <p:cNvSpPr txBox="1"/>
          <p:nvPr/>
        </p:nvSpPr>
        <p:spPr>
          <a:xfrm>
            <a:off x="8686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Lectura y escritura</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Comentar, valorar, compartir</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Perfiles y cuentas de usuario</a:t>
            </a:r>
            <a:endParaRPr lang="en-US" sz="1150" dirty="0"/>
          </a:p>
        </p:txBody>
      </p:sp>
      <p:sp>
        <p:nvSpPr>
          <p:cNvPr id="23" name="Shape 18"/>
          <p:cNvSpPr/>
          <p:nvPr/>
        </p:nvSpPr>
        <p:spPr>
          <a:xfrm>
            <a:off x="6469380" y="4791456"/>
            <a:ext cx="384048" cy="384048"/>
          </a:xfrm>
          <a:prstGeom prst="rect">
            <a:avLst/>
          </a:prstGeom>
          <a:solidFill>
            <a:srgbClr val="4FA98B"/>
          </a:solidFill>
          <a:ln/>
        </p:spPr>
        <p:txBody>
          <a:bodyPr/>
          <a:lstStyle/>
          <a:p>
            <a:endParaRPr lang="es-ES"/>
          </a:p>
        </p:txBody>
      </p:sp>
      <p:pic>
        <p:nvPicPr>
          <p:cNvPr id="24" name="Image 3" descr="/home/claude/webevo_v2/icons/grid_FFFFFF.png"/>
          <p:cNvPicPr>
            <a:picLocks noChangeAspect="1"/>
          </p:cNvPicPr>
          <p:nvPr/>
        </p:nvPicPr>
        <p:blipFill>
          <a:blip r:embed="rId6"/>
          <a:stretch>
            <a:fillRect/>
          </a:stretch>
        </p:blipFill>
        <p:spPr>
          <a:xfrm>
            <a:off x="6561552" y="4883628"/>
            <a:ext cx="199705" cy="199705"/>
          </a:xfrm>
          <a:prstGeom prst="rect">
            <a:avLst/>
          </a:prstGeom>
        </p:spPr>
      </p:pic>
      <p:sp>
        <p:nvSpPr>
          <p:cNvPr id="25" name="Text 19"/>
          <p:cNvSpPr txBox="1"/>
          <p:nvPr/>
        </p:nvSpPr>
        <p:spPr>
          <a:xfrm>
            <a:off x="69997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Ejemplos representativos</a:t>
            </a:r>
            <a:endParaRPr lang="en-US" sz="1350" dirty="0"/>
          </a:p>
        </p:txBody>
      </p:sp>
      <p:sp>
        <p:nvSpPr>
          <p:cNvPr id="26" name="Text 20"/>
          <p:cNvSpPr txBox="1"/>
          <p:nvPr/>
        </p:nvSpPr>
        <p:spPr>
          <a:xfrm>
            <a:off x="64693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Facebook, YouTube, Twitter</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Wikipedia</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WordPress, Blogger</a:t>
            </a:r>
            <a:endParaRPr lang="en-US" sz="1150" dirty="0"/>
          </a:p>
        </p:txBody>
      </p:sp>
      <p:sp>
        <p:nvSpPr>
          <p:cNvPr id="28" name="Text 22"/>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51F"/>
        </a:solidFill>
        <a:effectLst/>
      </p:bgPr>
    </p:bg>
    <p:spTree>
      <p:nvGrpSpPr>
        <p:cNvPr id="1" name=""/>
        <p:cNvGrpSpPr/>
        <p:nvPr/>
      </p:nvGrpSpPr>
      <p:grpSpPr>
        <a:xfrm>
          <a:off x="0" y="0"/>
          <a:ext cx="0" cy="0"/>
          <a:chOff x="0" y="0"/>
          <a:chExt cx="0" cy="0"/>
        </a:xfrm>
      </p:grpSpPr>
      <p:sp>
        <p:nvSpPr>
          <p:cNvPr id="3" name="Shape 1"/>
          <p:cNvSpPr/>
          <p:nvPr/>
        </p:nvSpPr>
        <p:spPr>
          <a:xfrm>
            <a:off x="502920" y="502920"/>
            <a:ext cx="82296" cy="384048"/>
          </a:xfrm>
          <a:prstGeom prst="rect">
            <a:avLst/>
          </a:prstGeom>
          <a:solidFill>
            <a:srgbClr val="9B7FC7"/>
          </a:solidFill>
          <a:ln/>
        </p:spPr>
        <p:txBody>
          <a:bodyPr/>
          <a:lstStyle/>
          <a:p>
            <a:endParaRPr lang="es-ES"/>
          </a:p>
        </p:txBody>
      </p:sp>
      <p:sp>
        <p:nvSpPr>
          <p:cNvPr id="4" name="Text 2"/>
          <p:cNvSpPr txBox="1"/>
          <p:nvPr/>
        </p:nvSpPr>
        <p:spPr>
          <a:xfrm>
            <a:off x="685800" y="457200"/>
            <a:ext cx="2743200" cy="457200"/>
          </a:xfrm>
          <a:prstGeom prst="rect">
            <a:avLst/>
          </a:prstGeom>
          <a:noFill/>
          <a:ln/>
        </p:spPr>
        <p:txBody>
          <a:bodyPr wrap="square" lIns="0" tIns="0" rIns="0" bIns="0" rtlCol="0" anchor="ctr"/>
          <a:lstStyle/>
          <a:p>
            <a:pPr marL="0" indent="0">
              <a:buNone/>
            </a:pPr>
            <a:r>
              <a:rPr lang="en-US" sz="1300" b="1" kern="0" spc="150" dirty="0">
                <a:solidFill>
                  <a:srgbClr val="9B7FC7"/>
                </a:solidFill>
                <a:latin typeface="Calibri" pitchFamily="34" charset="0"/>
                <a:ea typeface="Calibri" pitchFamily="34" charset="-122"/>
                <a:cs typeface="Calibri" pitchFamily="34" charset="-120"/>
              </a:rPr>
              <a:t>WEB 3.0</a:t>
            </a:r>
            <a:endParaRPr lang="en-US" sz="1300" dirty="0"/>
          </a:p>
        </p:txBody>
      </p:sp>
      <p:sp>
        <p:nvSpPr>
          <p:cNvPr id="5" name="Text 3"/>
          <p:cNvSpPr txBox="1"/>
          <p:nvPr/>
        </p:nvSpPr>
        <p:spPr>
          <a:xfrm>
            <a:off x="502920" y="868680"/>
            <a:ext cx="7040880" cy="914400"/>
          </a:xfrm>
          <a:prstGeom prst="rect">
            <a:avLst/>
          </a:prstGeom>
          <a:noFill/>
          <a:ln/>
        </p:spPr>
        <p:txBody>
          <a:bodyPr wrap="square" lIns="0" tIns="0" rIns="0" bIns="0" rtlCol="0" anchor="t"/>
          <a:lstStyle/>
          <a:p>
            <a:pPr marL="0" indent="0">
              <a:lnSpc>
                <a:spcPts val="3000"/>
              </a:lnSpc>
              <a:buNone/>
            </a:pPr>
            <a:r>
              <a:rPr lang="en-US" sz="2600" b="1" dirty="0">
                <a:solidFill>
                  <a:srgbClr val="F4EFE4"/>
                </a:solidFill>
                <a:latin typeface="Georgia" pitchFamily="34" charset="0"/>
                <a:ea typeface="Georgia" pitchFamily="34" charset="-122"/>
                <a:cs typeface="Georgia" pitchFamily="34" charset="-120"/>
              </a:rPr>
              <a:t>La web semántica y descentralizada</a:t>
            </a:r>
            <a:endParaRPr lang="en-US" sz="2600" dirty="0"/>
          </a:p>
        </p:txBody>
      </p:sp>
      <p:sp>
        <p:nvSpPr>
          <p:cNvPr id="6" name="Text 4"/>
          <p:cNvSpPr txBox="1"/>
          <p:nvPr/>
        </p:nvSpPr>
        <p:spPr>
          <a:xfrm>
            <a:off x="521208" y="1810512"/>
            <a:ext cx="4572000" cy="274320"/>
          </a:xfrm>
          <a:prstGeom prst="rect">
            <a:avLst/>
          </a:prstGeom>
          <a:noFill/>
          <a:ln/>
        </p:spPr>
        <p:txBody>
          <a:bodyPr wrap="square" lIns="0" tIns="0" rIns="0" bIns="0" rtlCol="0" anchor="ctr"/>
          <a:lstStyle/>
          <a:p>
            <a:pPr marL="0" indent="0">
              <a:buNone/>
            </a:pPr>
            <a:r>
              <a:rPr lang="en-US" sz="1150" i="1" dirty="0">
                <a:solidFill>
                  <a:srgbClr val="9498AC"/>
                </a:solidFill>
                <a:latin typeface="Calibri" pitchFamily="34" charset="0"/>
                <a:ea typeface="Calibri" pitchFamily="34" charset="-122"/>
                <a:cs typeface="Calibri" pitchFamily="34" charset="-120"/>
              </a:rPr>
              <a:t>≈ 2010 – actualidad</a:t>
            </a:r>
            <a:endParaRPr lang="en-US" sz="1150" dirty="0"/>
          </a:p>
        </p:txBody>
      </p:sp>
      <p:sp>
        <p:nvSpPr>
          <p:cNvPr id="7" name="Text 5"/>
          <p:cNvSpPr txBox="1"/>
          <p:nvPr/>
        </p:nvSpPr>
        <p:spPr>
          <a:xfrm>
            <a:off x="502920" y="2121408"/>
            <a:ext cx="6949440" cy="640080"/>
          </a:xfrm>
          <a:prstGeom prst="rect">
            <a:avLst/>
          </a:prstGeom>
          <a:noFill/>
          <a:ln/>
        </p:spPr>
        <p:txBody>
          <a:bodyPr wrap="square" lIns="0" tIns="0" rIns="0" bIns="0" rtlCol="0" anchor="t"/>
          <a:lstStyle/>
          <a:p>
            <a:pPr marL="0" indent="0">
              <a:lnSpc>
                <a:spcPts val="1700"/>
              </a:lnSpc>
              <a:buNone/>
            </a:pPr>
            <a:r>
              <a:rPr lang="en-US" sz="1350" i="1" dirty="0">
                <a:solidFill>
                  <a:srgbClr val="F4EFE4"/>
                </a:solidFill>
                <a:latin typeface="Calibri" pitchFamily="34" charset="0"/>
                <a:ea typeface="Calibri" pitchFamily="34" charset="-122"/>
                <a:cs typeface="Calibri" pitchFamily="34" charset="-120"/>
              </a:rPr>
              <a:t>Los datos adquieren significado propio: la web entiende, conecta y personaliza la información.</a:t>
            </a:r>
            <a:endParaRPr lang="en-US" sz="1350" dirty="0"/>
          </a:p>
        </p:txBody>
      </p:sp>
      <p:sp>
        <p:nvSpPr>
          <p:cNvPr id="8" name="Shape 6"/>
          <p:cNvSpPr/>
          <p:nvPr/>
        </p:nvSpPr>
        <p:spPr>
          <a:xfrm>
            <a:off x="502920" y="2788920"/>
            <a:ext cx="11201400" cy="3566160"/>
          </a:xfrm>
          <a:prstGeom prst="rect">
            <a:avLst/>
          </a:prstGeom>
          <a:solidFill>
            <a:srgbClr val="1C2030"/>
          </a:solidFill>
          <a:ln/>
        </p:spPr>
        <p:txBody>
          <a:bodyPr/>
          <a:lstStyle/>
          <a:p>
            <a:endParaRPr lang="es-ES"/>
          </a:p>
        </p:txBody>
      </p:sp>
      <p:sp>
        <p:nvSpPr>
          <p:cNvPr id="9" name="Shape 7"/>
          <p:cNvSpPr/>
          <p:nvPr/>
        </p:nvSpPr>
        <p:spPr>
          <a:xfrm>
            <a:off x="6103620" y="2788920"/>
            <a:ext cx="0" cy="3566160"/>
          </a:xfrm>
          <a:prstGeom prst="line">
            <a:avLst/>
          </a:prstGeom>
          <a:noFill/>
          <a:ln w="9525">
            <a:solidFill>
              <a:srgbClr val="343A52"/>
            </a:solidFill>
            <a:prstDash val="solid"/>
          </a:ln>
        </p:spPr>
        <p:txBody>
          <a:bodyPr/>
          <a:lstStyle/>
          <a:p>
            <a:endParaRPr lang="es-ES"/>
          </a:p>
        </p:txBody>
      </p:sp>
      <p:sp>
        <p:nvSpPr>
          <p:cNvPr id="10" name="Shape 8"/>
          <p:cNvSpPr/>
          <p:nvPr/>
        </p:nvSpPr>
        <p:spPr>
          <a:xfrm>
            <a:off x="502920" y="4572000"/>
            <a:ext cx="11201400" cy="0"/>
          </a:xfrm>
          <a:prstGeom prst="line">
            <a:avLst/>
          </a:prstGeom>
          <a:noFill/>
          <a:ln w="9525">
            <a:solidFill>
              <a:srgbClr val="343A52"/>
            </a:solidFill>
            <a:prstDash val="solid"/>
          </a:ln>
        </p:spPr>
        <p:txBody>
          <a:bodyPr/>
          <a:lstStyle/>
          <a:p>
            <a:endParaRPr lang="es-ES"/>
          </a:p>
        </p:txBody>
      </p:sp>
      <p:sp>
        <p:nvSpPr>
          <p:cNvPr id="11" name="Shape 9"/>
          <p:cNvSpPr/>
          <p:nvPr/>
        </p:nvSpPr>
        <p:spPr>
          <a:xfrm>
            <a:off x="868680" y="3063240"/>
            <a:ext cx="384048" cy="384048"/>
          </a:xfrm>
          <a:prstGeom prst="rect">
            <a:avLst/>
          </a:prstGeom>
          <a:solidFill>
            <a:srgbClr val="9B7FC7"/>
          </a:solidFill>
          <a:ln/>
        </p:spPr>
        <p:txBody>
          <a:bodyPr/>
          <a:lstStyle/>
          <a:p>
            <a:endParaRPr lang="es-ES"/>
          </a:p>
        </p:txBody>
      </p:sp>
      <p:pic>
        <p:nvPicPr>
          <p:cNvPr id="12" name="Image 0" descr="/home/claude/webevo_v2/icons/list_FFFFFF.png"/>
          <p:cNvPicPr>
            <a:picLocks noChangeAspect="1"/>
          </p:cNvPicPr>
          <p:nvPr/>
        </p:nvPicPr>
        <p:blipFill>
          <a:blip r:embed="rId3"/>
          <a:stretch>
            <a:fillRect/>
          </a:stretch>
        </p:blipFill>
        <p:spPr>
          <a:xfrm>
            <a:off x="960852" y="3155412"/>
            <a:ext cx="199705" cy="199705"/>
          </a:xfrm>
          <a:prstGeom prst="rect">
            <a:avLst/>
          </a:prstGeom>
        </p:spPr>
      </p:pic>
      <p:sp>
        <p:nvSpPr>
          <p:cNvPr id="13" name="Text 10"/>
          <p:cNvSpPr txBox="1"/>
          <p:nvPr/>
        </p:nvSpPr>
        <p:spPr>
          <a:xfrm>
            <a:off x="13990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Características</a:t>
            </a:r>
            <a:endParaRPr lang="en-US" sz="1350" dirty="0"/>
          </a:p>
        </p:txBody>
      </p:sp>
      <p:sp>
        <p:nvSpPr>
          <p:cNvPr id="14" name="Text 11"/>
          <p:cNvSpPr txBox="1"/>
          <p:nvPr/>
        </p:nvSpPr>
        <p:spPr>
          <a:xfrm>
            <a:off x="8686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Web semántica y datos enlazados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Personalización e inteligencia de datos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Descentralización (blockchain, Web3)</a:t>
            </a:r>
            <a:endParaRPr lang="en-US" sz="1150" dirty="0"/>
          </a:p>
        </p:txBody>
      </p:sp>
      <p:sp>
        <p:nvSpPr>
          <p:cNvPr id="15" name="Shape 12"/>
          <p:cNvSpPr/>
          <p:nvPr/>
        </p:nvSpPr>
        <p:spPr>
          <a:xfrm>
            <a:off x="6469380" y="3063240"/>
            <a:ext cx="384048" cy="384048"/>
          </a:xfrm>
          <a:prstGeom prst="rect">
            <a:avLst/>
          </a:prstGeom>
          <a:solidFill>
            <a:srgbClr val="9B7FC7"/>
          </a:solidFill>
          <a:ln/>
        </p:spPr>
        <p:txBody>
          <a:bodyPr/>
          <a:lstStyle/>
          <a:p>
            <a:endParaRPr lang="es-ES"/>
          </a:p>
        </p:txBody>
      </p:sp>
      <p:pic>
        <p:nvPicPr>
          <p:cNvPr id="16" name="Image 1" descr="/home/claude/webevo_v2/icons/code_FFFFFF.png"/>
          <p:cNvPicPr>
            <a:picLocks noChangeAspect="1"/>
          </p:cNvPicPr>
          <p:nvPr/>
        </p:nvPicPr>
        <p:blipFill>
          <a:blip r:embed="rId4"/>
          <a:stretch>
            <a:fillRect/>
          </a:stretch>
        </p:blipFill>
        <p:spPr>
          <a:xfrm>
            <a:off x="6561552" y="3155412"/>
            <a:ext cx="199705" cy="199705"/>
          </a:xfrm>
          <a:prstGeom prst="rect">
            <a:avLst/>
          </a:prstGeom>
        </p:spPr>
      </p:pic>
      <p:sp>
        <p:nvSpPr>
          <p:cNvPr id="17" name="Text 13"/>
          <p:cNvSpPr txBox="1"/>
          <p:nvPr/>
        </p:nvSpPr>
        <p:spPr>
          <a:xfrm>
            <a:off x="69997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Tecnologías representativas</a:t>
            </a:r>
            <a:endParaRPr lang="en-US" sz="1350" dirty="0"/>
          </a:p>
        </p:txBody>
      </p:sp>
      <p:sp>
        <p:nvSpPr>
          <p:cNvPr id="18" name="Text 14"/>
          <p:cNvSpPr txBox="1"/>
          <p:nvPr/>
        </p:nvSpPr>
        <p:spPr>
          <a:xfrm>
            <a:off x="64693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APIs REST / GraphQL</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Big Data y computación en la nube</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Blockchain e IoT inicial</a:t>
            </a:r>
            <a:endParaRPr lang="en-US" sz="1150" dirty="0"/>
          </a:p>
        </p:txBody>
      </p:sp>
      <p:sp>
        <p:nvSpPr>
          <p:cNvPr id="19" name="Shape 15"/>
          <p:cNvSpPr/>
          <p:nvPr/>
        </p:nvSpPr>
        <p:spPr>
          <a:xfrm>
            <a:off x="868680" y="4791456"/>
            <a:ext cx="384048" cy="384048"/>
          </a:xfrm>
          <a:prstGeom prst="rect">
            <a:avLst/>
          </a:prstGeom>
          <a:solidFill>
            <a:srgbClr val="9B7FC7"/>
          </a:solidFill>
          <a:ln/>
        </p:spPr>
        <p:txBody>
          <a:bodyPr/>
          <a:lstStyle/>
          <a:p>
            <a:endParaRPr lang="es-ES"/>
          </a:p>
        </p:txBody>
      </p:sp>
      <p:pic>
        <p:nvPicPr>
          <p:cNvPr id="20" name="Image 2" descr="/home/claude/webevo_v2/icons/cursor_FFFFFF.png"/>
          <p:cNvPicPr>
            <a:picLocks noChangeAspect="1"/>
          </p:cNvPicPr>
          <p:nvPr/>
        </p:nvPicPr>
        <p:blipFill>
          <a:blip r:embed="rId5"/>
          <a:stretch>
            <a:fillRect/>
          </a:stretch>
        </p:blipFill>
        <p:spPr>
          <a:xfrm>
            <a:off x="960852" y="4883628"/>
            <a:ext cx="199705" cy="199705"/>
          </a:xfrm>
          <a:prstGeom prst="rect">
            <a:avLst/>
          </a:prstGeom>
        </p:spPr>
      </p:pic>
      <p:sp>
        <p:nvSpPr>
          <p:cNvPr id="21" name="Text 16"/>
          <p:cNvSpPr txBox="1"/>
          <p:nvPr/>
        </p:nvSpPr>
        <p:spPr>
          <a:xfrm>
            <a:off x="13990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Interacción del usuario</a:t>
            </a:r>
            <a:endParaRPr lang="en-US" sz="1350" dirty="0"/>
          </a:p>
        </p:txBody>
      </p:sp>
      <p:sp>
        <p:nvSpPr>
          <p:cNvPr id="22" name="Text 17"/>
          <p:cNvSpPr txBox="1"/>
          <p:nvPr/>
        </p:nvSpPr>
        <p:spPr>
          <a:xfrm>
            <a:off x="8686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Búsquedas contextuales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Recomendaciones personalizadas</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Comunicación entre máquinas (M2M)</a:t>
            </a:r>
            <a:endParaRPr lang="en-US" sz="1150" dirty="0"/>
          </a:p>
        </p:txBody>
      </p:sp>
      <p:sp>
        <p:nvSpPr>
          <p:cNvPr id="23" name="Shape 18"/>
          <p:cNvSpPr/>
          <p:nvPr/>
        </p:nvSpPr>
        <p:spPr>
          <a:xfrm>
            <a:off x="6469380" y="4791456"/>
            <a:ext cx="384048" cy="384048"/>
          </a:xfrm>
          <a:prstGeom prst="rect">
            <a:avLst/>
          </a:prstGeom>
          <a:solidFill>
            <a:srgbClr val="9B7FC7"/>
          </a:solidFill>
          <a:ln/>
        </p:spPr>
        <p:txBody>
          <a:bodyPr/>
          <a:lstStyle/>
          <a:p>
            <a:endParaRPr lang="es-ES"/>
          </a:p>
        </p:txBody>
      </p:sp>
      <p:pic>
        <p:nvPicPr>
          <p:cNvPr id="24" name="Image 3" descr="/home/claude/webevo_v2/icons/grid_FFFFFF.png"/>
          <p:cNvPicPr>
            <a:picLocks noChangeAspect="1"/>
          </p:cNvPicPr>
          <p:nvPr/>
        </p:nvPicPr>
        <p:blipFill>
          <a:blip r:embed="rId6"/>
          <a:stretch>
            <a:fillRect/>
          </a:stretch>
        </p:blipFill>
        <p:spPr>
          <a:xfrm>
            <a:off x="6561552" y="4883628"/>
            <a:ext cx="199705" cy="199705"/>
          </a:xfrm>
          <a:prstGeom prst="rect">
            <a:avLst/>
          </a:prstGeom>
        </p:spPr>
      </p:pic>
      <p:sp>
        <p:nvSpPr>
          <p:cNvPr id="25" name="Text 19"/>
          <p:cNvSpPr txBox="1"/>
          <p:nvPr/>
        </p:nvSpPr>
        <p:spPr>
          <a:xfrm>
            <a:off x="69997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Ejemplos representativos</a:t>
            </a:r>
            <a:endParaRPr lang="en-US" sz="1350" dirty="0"/>
          </a:p>
        </p:txBody>
      </p:sp>
      <p:sp>
        <p:nvSpPr>
          <p:cNvPr id="26" name="Text 20"/>
          <p:cNvSpPr txBox="1"/>
          <p:nvPr/>
        </p:nvSpPr>
        <p:spPr>
          <a:xfrm>
            <a:off x="64693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Google Knowledge Graph</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Asistentes de voz (Siri, Alexa)</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Aplicaciones descentralizadas (dApps)</a:t>
            </a:r>
            <a:endParaRPr lang="en-US" sz="1150" dirty="0"/>
          </a:p>
        </p:txBody>
      </p:sp>
      <p:sp>
        <p:nvSpPr>
          <p:cNvPr id="28" name="Text 22"/>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51F"/>
        </a:solidFill>
        <a:effectLst/>
      </p:bgPr>
    </p:bg>
    <p:spTree>
      <p:nvGrpSpPr>
        <p:cNvPr id="1" name=""/>
        <p:cNvGrpSpPr/>
        <p:nvPr/>
      </p:nvGrpSpPr>
      <p:grpSpPr>
        <a:xfrm>
          <a:off x="0" y="0"/>
          <a:ext cx="0" cy="0"/>
          <a:chOff x="0" y="0"/>
          <a:chExt cx="0" cy="0"/>
        </a:xfrm>
      </p:grpSpPr>
      <p:sp>
        <p:nvSpPr>
          <p:cNvPr id="3" name="Shape 1"/>
          <p:cNvSpPr/>
          <p:nvPr/>
        </p:nvSpPr>
        <p:spPr>
          <a:xfrm>
            <a:off x="502920" y="502920"/>
            <a:ext cx="82296" cy="384048"/>
          </a:xfrm>
          <a:prstGeom prst="rect">
            <a:avLst/>
          </a:prstGeom>
          <a:solidFill>
            <a:srgbClr val="E0793B"/>
          </a:solidFill>
          <a:ln/>
        </p:spPr>
        <p:txBody>
          <a:bodyPr/>
          <a:lstStyle/>
          <a:p>
            <a:endParaRPr lang="es-ES"/>
          </a:p>
        </p:txBody>
      </p:sp>
      <p:sp>
        <p:nvSpPr>
          <p:cNvPr id="4" name="Text 2"/>
          <p:cNvSpPr txBox="1"/>
          <p:nvPr/>
        </p:nvSpPr>
        <p:spPr>
          <a:xfrm>
            <a:off x="685800" y="457200"/>
            <a:ext cx="2743200" cy="457200"/>
          </a:xfrm>
          <a:prstGeom prst="rect">
            <a:avLst/>
          </a:prstGeom>
          <a:noFill/>
          <a:ln/>
        </p:spPr>
        <p:txBody>
          <a:bodyPr wrap="square" lIns="0" tIns="0" rIns="0" bIns="0" rtlCol="0" anchor="ctr"/>
          <a:lstStyle/>
          <a:p>
            <a:pPr marL="0" indent="0">
              <a:buNone/>
            </a:pPr>
            <a:r>
              <a:rPr lang="en-US" sz="1300" b="1" kern="0" spc="150" dirty="0">
                <a:solidFill>
                  <a:srgbClr val="E0793B"/>
                </a:solidFill>
                <a:latin typeface="Calibri" pitchFamily="34" charset="0"/>
                <a:ea typeface="Calibri" pitchFamily="34" charset="-122"/>
                <a:cs typeface="Calibri" pitchFamily="34" charset="-120"/>
              </a:rPr>
              <a:t>WEB 4.0</a:t>
            </a:r>
            <a:endParaRPr lang="en-US" sz="1300" dirty="0"/>
          </a:p>
        </p:txBody>
      </p:sp>
      <p:sp>
        <p:nvSpPr>
          <p:cNvPr id="5" name="Text 3"/>
          <p:cNvSpPr txBox="1"/>
          <p:nvPr/>
        </p:nvSpPr>
        <p:spPr>
          <a:xfrm>
            <a:off x="502920" y="868680"/>
            <a:ext cx="7040880" cy="914400"/>
          </a:xfrm>
          <a:prstGeom prst="rect">
            <a:avLst/>
          </a:prstGeom>
          <a:noFill/>
          <a:ln/>
        </p:spPr>
        <p:txBody>
          <a:bodyPr wrap="square" lIns="0" tIns="0" rIns="0" bIns="0" rtlCol="0" anchor="t"/>
          <a:lstStyle/>
          <a:p>
            <a:pPr marL="0" indent="0">
              <a:lnSpc>
                <a:spcPts val="3000"/>
              </a:lnSpc>
              <a:buNone/>
            </a:pPr>
            <a:r>
              <a:rPr lang="en-US" sz="2600" b="1" dirty="0">
                <a:solidFill>
                  <a:srgbClr val="F4EFE4"/>
                </a:solidFill>
                <a:latin typeface="Georgia" pitchFamily="34" charset="0"/>
                <a:ea typeface="Georgia" pitchFamily="34" charset="-122"/>
                <a:cs typeface="Georgia" pitchFamily="34" charset="-120"/>
              </a:rPr>
              <a:t>La web inteligente y ubicua</a:t>
            </a:r>
            <a:endParaRPr lang="en-US" sz="2600" dirty="0"/>
          </a:p>
        </p:txBody>
      </p:sp>
      <p:sp>
        <p:nvSpPr>
          <p:cNvPr id="6" name="Text 4"/>
          <p:cNvSpPr txBox="1"/>
          <p:nvPr/>
        </p:nvSpPr>
        <p:spPr>
          <a:xfrm>
            <a:off x="521208" y="1810512"/>
            <a:ext cx="4572000" cy="274320"/>
          </a:xfrm>
          <a:prstGeom prst="rect">
            <a:avLst/>
          </a:prstGeom>
          <a:noFill/>
          <a:ln/>
        </p:spPr>
        <p:txBody>
          <a:bodyPr wrap="square" lIns="0" tIns="0" rIns="0" bIns="0" rtlCol="0" anchor="ctr"/>
          <a:lstStyle/>
          <a:p>
            <a:pPr marL="0" indent="0">
              <a:buNone/>
            </a:pPr>
            <a:r>
              <a:rPr lang="en-US" sz="1150" i="1" dirty="0">
                <a:solidFill>
                  <a:srgbClr val="9498AC"/>
                </a:solidFill>
                <a:latin typeface="Calibri" pitchFamily="34" charset="0"/>
                <a:ea typeface="Calibri" pitchFamily="34" charset="-122"/>
                <a:cs typeface="Calibri" pitchFamily="34" charset="-120"/>
              </a:rPr>
              <a:t>Emergente / en construcción</a:t>
            </a:r>
            <a:endParaRPr lang="en-US" sz="1150" dirty="0"/>
          </a:p>
        </p:txBody>
      </p:sp>
      <p:sp>
        <p:nvSpPr>
          <p:cNvPr id="7" name="Text 5"/>
          <p:cNvSpPr txBox="1"/>
          <p:nvPr/>
        </p:nvSpPr>
        <p:spPr>
          <a:xfrm>
            <a:off x="502920" y="2121408"/>
            <a:ext cx="6949440" cy="640080"/>
          </a:xfrm>
          <a:prstGeom prst="rect">
            <a:avLst/>
          </a:prstGeom>
          <a:noFill/>
          <a:ln/>
        </p:spPr>
        <p:txBody>
          <a:bodyPr wrap="square" lIns="0" tIns="0" rIns="0" bIns="0" rtlCol="0" anchor="t"/>
          <a:lstStyle/>
          <a:p>
            <a:pPr marL="0" indent="0">
              <a:lnSpc>
                <a:spcPts val="1700"/>
              </a:lnSpc>
              <a:buNone/>
            </a:pPr>
            <a:r>
              <a:rPr lang="en-US" sz="1350" i="1" dirty="0">
                <a:solidFill>
                  <a:srgbClr val="F4EFE4"/>
                </a:solidFill>
                <a:latin typeface="Calibri" pitchFamily="34" charset="0"/>
                <a:ea typeface="Calibri" pitchFamily="34" charset="-122"/>
                <a:cs typeface="Calibri" pitchFamily="34" charset="-120"/>
              </a:rPr>
              <a:t>Una web simbiótica entre humanos y máquinas: siempre conectada, impulsada por inteligencia artificial.</a:t>
            </a:r>
            <a:endParaRPr lang="en-US" sz="1350" dirty="0"/>
          </a:p>
        </p:txBody>
      </p:sp>
      <p:sp>
        <p:nvSpPr>
          <p:cNvPr id="8" name="Shape 6"/>
          <p:cNvSpPr/>
          <p:nvPr/>
        </p:nvSpPr>
        <p:spPr>
          <a:xfrm>
            <a:off x="502920" y="2788920"/>
            <a:ext cx="11201400" cy="3566160"/>
          </a:xfrm>
          <a:prstGeom prst="rect">
            <a:avLst/>
          </a:prstGeom>
          <a:solidFill>
            <a:srgbClr val="1C2030"/>
          </a:solidFill>
          <a:ln/>
        </p:spPr>
        <p:txBody>
          <a:bodyPr/>
          <a:lstStyle/>
          <a:p>
            <a:endParaRPr lang="es-ES"/>
          </a:p>
        </p:txBody>
      </p:sp>
      <p:sp>
        <p:nvSpPr>
          <p:cNvPr id="9" name="Shape 7"/>
          <p:cNvSpPr/>
          <p:nvPr/>
        </p:nvSpPr>
        <p:spPr>
          <a:xfrm>
            <a:off x="6103620" y="2788920"/>
            <a:ext cx="0" cy="3566160"/>
          </a:xfrm>
          <a:prstGeom prst="line">
            <a:avLst/>
          </a:prstGeom>
          <a:noFill/>
          <a:ln w="9525">
            <a:solidFill>
              <a:srgbClr val="343A52"/>
            </a:solidFill>
            <a:prstDash val="solid"/>
          </a:ln>
        </p:spPr>
        <p:txBody>
          <a:bodyPr/>
          <a:lstStyle/>
          <a:p>
            <a:endParaRPr lang="es-ES"/>
          </a:p>
        </p:txBody>
      </p:sp>
      <p:sp>
        <p:nvSpPr>
          <p:cNvPr id="10" name="Shape 8"/>
          <p:cNvSpPr/>
          <p:nvPr/>
        </p:nvSpPr>
        <p:spPr>
          <a:xfrm>
            <a:off x="502920" y="4572000"/>
            <a:ext cx="11201400" cy="0"/>
          </a:xfrm>
          <a:prstGeom prst="line">
            <a:avLst/>
          </a:prstGeom>
          <a:noFill/>
          <a:ln w="9525">
            <a:solidFill>
              <a:srgbClr val="343A52"/>
            </a:solidFill>
            <a:prstDash val="solid"/>
          </a:ln>
        </p:spPr>
        <p:txBody>
          <a:bodyPr/>
          <a:lstStyle/>
          <a:p>
            <a:endParaRPr lang="es-ES"/>
          </a:p>
        </p:txBody>
      </p:sp>
      <p:sp>
        <p:nvSpPr>
          <p:cNvPr id="11" name="Shape 9"/>
          <p:cNvSpPr/>
          <p:nvPr/>
        </p:nvSpPr>
        <p:spPr>
          <a:xfrm>
            <a:off x="868680" y="3063240"/>
            <a:ext cx="384048" cy="384048"/>
          </a:xfrm>
          <a:prstGeom prst="rect">
            <a:avLst/>
          </a:prstGeom>
          <a:solidFill>
            <a:srgbClr val="E0793B"/>
          </a:solidFill>
          <a:ln/>
        </p:spPr>
        <p:txBody>
          <a:bodyPr/>
          <a:lstStyle/>
          <a:p>
            <a:endParaRPr lang="es-ES"/>
          </a:p>
        </p:txBody>
      </p:sp>
      <p:pic>
        <p:nvPicPr>
          <p:cNvPr id="12" name="Image 0" descr="/home/claude/webevo_v2/icons/list_FFFFFF.png"/>
          <p:cNvPicPr>
            <a:picLocks noChangeAspect="1"/>
          </p:cNvPicPr>
          <p:nvPr/>
        </p:nvPicPr>
        <p:blipFill>
          <a:blip r:embed="rId3"/>
          <a:stretch>
            <a:fillRect/>
          </a:stretch>
        </p:blipFill>
        <p:spPr>
          <a:xfrm>
            <a:off x="960852" y="3155412"/>
            <a:ext cx="199705" cy="199705"/>
          </a:xfrm>
          <a:prstGeom prst="rect">
            <a:avLst/>
          </a:prstGeom>
        </p:spPr>
      </p:pic>
      <p:sp>
        <p:nvSpPr>
          <p:cNvPr id="13" name="Text 10"/>
          <p:cNvSpPr txBox="1"/>
          <p:nvPr/>
        </p:nvSpPr>
        <p:spPr>
          <a:xfrm>
            <a:off x="13990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Características</a:t>
            </a:r>
            <a:endParaRPr lang="en-US" sz="1350" dirty="0"/>
          </a:p>
        </p:txBody>
      </p:sp>
      <p:sp>
        <p:nvSpPr>
          <p:cNvPr id="14" name="Text 11"/>
          <p:cNvSpPr txBox="1"/>
          <p:nvPr/>
        </p:nvSpPr>
        <p:spPr>
          <a:xfrm>
            <a:off x="8686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Conectividad ubicua y permanente</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Inteligencia artificial integrada</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Experiencias inmersivas</a:t>
            </a:r>
            <a:endParaRPr lang="en-US" sz="1150" dirty="0"/>
          </a:p>
        </p:txBody>
      </p:sp>
      <p:sp>
        <p:nvSpPr>
          <p:cNvPr id="15" name="Shape 12"/>
          <p:cNvSpPr/>
          <p:nvPr/>
        </p:nvSpPr>
        <p:spPr>
          <a:xfrm>
            <a:off x="6469380" y="3063240"/>
            <a:ext cx="384048" cy="384048"/>
          </a:xfrm>
          <a:prstGeom prst="rect">
            <a:avLst/>
          </a:prstGeom>
          <a:solidFill>
            <a:srgbClr val="E0793B"/>
          </a:solidFill>
          <a:ln/>
        </p:spPr>
        <p:txBody>
          <a:bodyPr/>
          <a:lstStyle/>
          <a:p>
            <a:endParaRPr lang="es-ES"/>
          </a:p>
        </p:txBody>
      </p:sp>
      <p:pic>
        <p:nvPicPr>
          <p:cNvPr id="16" name="Image 1" descr="/home/claude/webevo_v2/icons/code_FFFFFF.png"/>
          <p:cNvPicPr>
            <a:picLocks noChangeAspect="1"/>
          </p:cNvPicPr>
          <p:nvPr/>
        </p:nvPicPr>
        <p:blipFill>
          <a:blip r:embed="rId4"/>
          <a:stretch>
            <a:fillRect/>
          </a:stretch>
        </p:blipFill>
        <p:spPr>
          <a:xfrm>
            <a:off x="6561552" y="3155412"/>
            <a:ext cx="199705" cy="199705"/>
          </a:xfrm>
          <a:prstGeom prst="rect">
            <a:avLst/>
          </a:prstGeom>
        </p:spPr>
      </p:pic>
      <p:sp>
        <p:nvSpPr>
          <p:cNvPr id="17" name="Text 13"/>
          <p:cNvSpPr txBox="1"/>
          <p:nvPr/>
        </p:nvSpPr>
        <p:spPr>
          <a:xfrm>
            <a:off x="6999732" y="3017520"/>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Tecnologías representativas</a:t>
            </a:r>
            <a:endParaRPr lang="en-US" sz="1350" dirty="0"/>
          </a:p>
        </p:txBody>
      </p:sp>
      <p:sp>
        <p:nvSpPr>
          <p:cNvPr id="18" name="Text 14"/>
          <p:cNvSpPr txBox="1"/>
          <p:nvPr/>
        </p:nvSpPr>
        <p:spPr>
          <a:xfrm>
            <a:off x="6469380" y="3557016"/>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IA generativa y modelos de lenguaje</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IoT y redes 5G / 6G</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Realidad aumentada y virtual</a:t>
            </a:r>
            <a:endParaRPr lang="en-US" sz="1150" dirty="0"/>
          </a:p>
        </p:txBody>
      </p:sp>
      <p:sp>
        <p:nvSpPr>
          <p:cNvPr id="19" name="Shape 15"/>
          <p:cNvSpPr/>
          <p:nvPr/>
        </p:nvSpPr>
        <p:spPr>
          <a:xfrm>
            <a:off x="868680" y="4791456"/>
            <a:ext cx="384048" cy="384048"/>
          </a:xfrm>
          <a:prstGeom prst="rect">
            <a:avLst/>
          </a:prstGeom>
          <a:solidFill>
            <a:srgbClr val="E0793B"/>
          </a:solidFill>
          <a:ln/>
        </p:spPr>
        <p:txBody>
          <a:bodyPr/>
          <a:lstStyle/>
          <a:p>
            <a:endParaRPr lang="es-ES"/>
          </a:p>
        </p:txBody>
      </p:sp>
      <p:pic>
        <p:nvPicPr>
          <p:cNvPr id="20" name="Image 2" descr="/home/claude/webevo_v2/icons/cursor_FFFFFF.png"/>
          <p:cNvPicPr>
            <a:picLocks noChangeAspect="1"/>
          </p:cNvPicPr>
          <p:nvPr/>
        </p:nvPicPr>
        <p:blipFill>
          <a:blip r:embed="rId5"/>
          <a:stretch>
            <a:fillRect/>
          </a:stretch>
        </p:blipFill>
        <p:spPr>
          <a:xfrm>
            <a:off x="960852" y="4883628"/>
            <a:ext cx="199705" cy="199705"/>
          </a:xfrm>
          <a:prstGeom prst="rect">
            <a:avLst/>
          </a:prstGeom>
        </p:spPr>
      </p:pic>
      <p:sp>
        <p:nvSpPr>
          <p:cNvPr id="21" name="Text 16"/>
          <p:cNvSpPr txBox="1"/>
          <p:nvPr/>
        </p:nvSpPr>
        <p:spPr>
          <a:xfrm>
            <a:off x="13990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Interacción del usuario</a:t>
            </a:r>
            <a:endParaRPr lang="en-US" sz="1350" dirty="0"/>
          </a:p>
        </p:txBody>
      </p:sp>
      <p:sp>
        <p:nvSpPr>
          <p:cNvPr id="22" name="Text 17"/>
          <p:cNvSpPr txBox="1"/>
          <p:nvPr/>
        </p:nvSpPr>
        <p:spPr>
          <a:xfrm>
            <a:off x="8686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Conversacional y multimodal</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Proactiva y predictiva</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Asistentes que actúan por el usuario</a:t>
            </a:r>
            <a:endParaRPr lang="en-US" sz="1150" dirty="0"/>
          </a:p>
        </p:txBody>
      </p:sp>
      <p:sp>
        <p:nvSpPr>
          <p:cNvPr id="23" name="Shape 18"/>
          <p:cNvSpPr/>
          <p:nvPr/>
        </p:nvSpPr>
        <p:spPr>
          <a:xfrm>
            <a:off x="6469380" y="4791456"/>
            <a:ext cx="384048" cy="384048"/>
          </a:xfrm>
          <a:prstGeom prst="rect">
            <a:avLst/>
          </a:prstGeom>
          <a:solidFill>
            <a:srgbClr val="E0793B"/>
          </a:solidFill>
          <a:ln/>
        </p:spPr>
        <p:txBody>
          <a:bodyPr/>
          <a:lstStyle/>
          <a:p>
            <a:endParaRPr lang="es-ES"/>
          </a:p>
        </p:txBody>
      </p:sp>
      <p:pic>
        <p:nvPicPr>
          <p:cNvPr id="24" name="Image 3" descr="/home/claude/webevo_v2/icons/grid_FFFFFF.png"/>
          <p:cNvPicPr>
            <a:picLocks noChangeAspect="1"/>
          </p:cNvPicPr>
          <p:nvPr/>
        </p:nvPicPr>
        <p:blipFill>
          <a:blip r:embed="rId6"/>
          <a:stretch>
            <a:fillRect/>
          </a:stretch>
        </p:blipFill>
        <p:spPr>
          <a:xfrm>
            <a:off x="6561552" y="4883628"/>
            <a:ext cx="199705" cy="199705"/>
          </a:xfrm>
          <a:prstGeom prst="rect">
            <a:avLst/>
          </a:prstGeom>
        </p:spPr>
      </p:pic>
      <p:sp>
        <p:nvSpPr>
          <p:cNvPr id="25" name="Text 19"/>
          <p:cNvSpPr txBox="1"/>
          <p:nvPr/>
        </p:nvSpPr>
        <p:spPr>
          <a:xfrm>
            <a:off x="6999732" y="4745736"/>
            <a:ext cx="4613148" cy="438912"/>
          </a:xfrm>
          <a:prstGeom prst="rect">
            <a:avLst/>
          </a:prstGeom>
          <a:noFill/>
          <a:ln/>
        </p:spPr>
        <p:txBody>
          <a:bodyPr wrap="square" lIns="0" tIns="0" rIns="0" bIns="0" rtlCol="0" anchor="ctr"/>
          <a:lstStyle/>
          <a:p>
            <a:pPr marL="0" indent="0">
              <a:buNone/>
            </a:pPr>
            <a:r>
              <a:rPr lang="en-US" sz="1350" b="1" dirty="0">
                <a:solidFill>
                  <a:srgbClr val="F4EFE4"/>
                </a:solidFill>
                <a:latin typeface="Calibri" pitchFamily="34" charset="0"/>
                <a:ea typeface="Calibri" pitchFamily="34" charset="-122"/>
                <a:cs typeface="Calibri" pitchFamily="34" charset="-120"/>
              </a:rPr>
              <a:t>Ejemplos representativos</a:t>
            </a:r>
            <a:endParaRPr lang="en-US" sz="1350" dirty="0"/>
          </a:p>
        </p:txBody>
      </p:sp>
      <p:sp>
        <p:nvSpPr>
          <p:cNvPr id="26" name="Text 20"/>
          <p:cNvSpPr txBox="1"/>
          <p:nvPr/>
        </p:nvSpPr>
        <p:spPr>
          <a:xfrm>
            <a:off x="6469380" y="5285232"/>
            <a:ext cx="4933188" cy="813816"/>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Asistentes de IA (ChatGPT, Claude)</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Entornos de metaverso</a:t>
            </a:r>
            <a:endParaRPr lang="en-US" sz="1150" dirty="0"/>
          </a:p>
          <a:p>
            <a:pPr marL="177800" indent="-177800">
              <a:lnSpc>
                <a:spcPts val="1500"/>
              </a:lnSpc>
              <a:spcAft>
                <a:spcPts val="700"/>
              </a:spcAft>
              <a:buSzPct val="100000"/>
              <a:buChar char="—"/>
            </a:pPr>
            <a:r>
              <a:rPr lang="en-US" sz="1150" dirty="0">
                <a:solidFill>
                  <a:srgbClr val="9498AC"/>
                </a:solidFill>
                <a:latin typeface="Calibri" pitchFamily="34" charset="0"/>
                <a:ea typeface="Calibri" pitchFamily="34" charset="-122"/>
                <a:cs typeface="Calibri" pitchFamily="34" charset="-120"/>
              </a:rPr>
              <a:t>Hogares y ciudades inteligentes</a:t>
            </a:r>
            <a:endParaRPr lang="en-US" sz="1150" dirty="0"/>
          </a:p>
        </p:txBody>
      </p:sp>
      <p:sp>
        <p:nvSpPr>
          <p:cNvPr id="28" name="Text 22"/>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51F"/>
        </a:solidFill>
        <a:effectLst/>
      </p:bgPr>
    </p:bg>
    <p:spTree>
      <p:nvGrpSpPr>
        <p:cNvPr id="1" name=""/>
        <p:cNvGrpSpPr/>
        <p:nvPr/>
      </p:nvGrpSpPr>
      <p:grpSpPr>
        <a:xfrm>
          <a:off x="0" y="0"/>
          <a:ext cx="0" cy="0"/>
          <a:chOff x="0" y="0"/>
          <a:chExt cx="0" cy="0"/>
        </a:xfrm>
      </p:grpSpPr>
      <p:sp>
        <p:nvSpPr>
          <p:cNvPr id="2" name="Text 0"/>
          <p:cNvSpPr txBox="1"/>
          <p:nvPr/>
        </p:nvSpPr>
        <p:spPr>
          <a:xfrm>
            <a:off x="457200" y="384048"/>
            <a:ext cx="10058400" cy="548640"/>
          </a:xfrm>
          <a:prstGeom prst="rect">
            <a:avLst/>
          </a:prstGeom>
          <a:noFill/>
          <a:ln/>
        </p:spPr>
        <p:txBody>
          <a:bodyPr wrap="square" lIns="0" tIns="0" rIns="0" bIns="0" rtlCol="0" anchor="ctr"/>
          <a:lstStyle/>
          <a:p>
            <a:pPr marL="0" indent="0">
              <a:buNone/>
            </a:pPr>
            <a:r>
              <a:rPr lang="en-US" sz="2600" b="1" dirty="0">
                <a:solidFill>
                  <a:srgbClr val="F4EFE4"/>
                </a:solidFill>
                <a:latin typeface="Georgia" pitchFamily="34" charset="0"/>
                <a:ea typeface="Georgia" pitchFamily="34" charset="-122"/>
                <a:cs typeface="Georgia" pitchFamily="34" charset="-120"/>
              </a:rPr>
              <a:t>Comparativa evolutiva y reflexión final</a:t>
            </a:r>
            <a:endParaRPr lang="en-US" sz="2600" dirty="0"/>
          </a:p>
        </p:txBody>
      </p:sp>
      <p:sp>
        <p:nvSpPr>
          <p:cNvPr id="3" name="Shape 1"/>
          <p:cNvSpPr/>
          <p:nvPr/>
        </p:nvSpPr>
        <p:spPr>
          <a:xfrm>
            <a:off x="484632" y="1005840"/>
            <a:ext cx="822960" cy="0"/>
          </a:xfrm>
          <a:prstGeom prst="line">
            <a:avLst/>
          </a:prstGeom>
          <a:noFill/>
          <a:ln w="19050">
            <a:solidFill>
              <a:srgbClr val="C9A24B"/>
            </a:solidFill>
            <a:prstDash val="solid"/>
          </a:ln>
        </p:spPr>
        <p:txBody>
          <a:bodyPr/>
          <a:lstStyle/>
          <a:p>
            <a:endParaRPr lang="es-ES"/>
          </a:p>
        </p:txBody>
      </p:sp>
      <p:graphicFrame>
        <p:nvGraphicFramePr>
          <p:cNvPr id="8" name="Table 0"/>
          <p:cNvGraphicFramePr>
            <a:graphicFrameLocks noGrp="1"/>
          </p:cNvGraphicFramePr>
          <p:nvPr>
            <p:extLst>
              <p:ext uri="{D42A27DB-BD31-4B8C-83A1-F6EECF244321}">
                <p14:modId xmlns:p14="http://schemas.microsoft.com/office/powerpoint/2010/main" val="2423810925"/>
              </p:ext>
            </p:extLst>
          </p:nvPr>
        </p:nvGraphicFramePr>
        <p:xfrm>
          <a:off x="457200" y="1234440"/>
          <a:ext cx="11064240" cy="2331720"/>
        </p:xfrm>
        <a:graphic>
          <a:graphicData uri="http://schemas.openxmlformats.org/drawingml/2006/table">
            <a:tbl>
              <a:tblPr/>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tblGrid>
              <a:tr h="582930">
                <a:tc>
                  <a:txBody>
                    <a:bodyPr/>
                    <a:lstStyle/>
                    <a:p>
                      <a:pPr marL="0" indent="0">
                        <a:buNone/>
                      </a:pPr>
                      <a:endParaRPr lang="en-US" sz="1200" dirty="0"/>
                    </a:p>
                  </a:txBody>
                  <a:tcPr marL="76200" marR="76200" marT="50800" marB="50800" anchor="ctr">
                    <a:lnL w="0" cap="flat" cmpd="sng" algn="ctr">
                      <a:noFill/>
                    </a:lnL>
                    <a:lnR w="0" cap="flat" cmpd="sng" algn="ctr">
                      <a:noFill/>
                    </a:lnR>
                    <a:lnT w="0" cap="flat" cmpd="sng" algn="ctr">
                      <a:noFill/>
                    </a:lnT>
                    <a:lnB w="0" cap="flat" cmpd="sng" algn="ctr">
                      <a:noFill/>
                    </a:lnB>
                    <a:solidFill>
                      <a:srgbClr val="13151F"/>
                    </a:solidFill>
                  </a:tcPr>
                </a:tc>
                <a:tc>
                  <a:txBody>
                    <a:bodyPr/>
                    <a:lstStyle/>
                    <a:p>
                      <a:pPr marL="0" indent="0" algn="ctr">
                        <a:buNone/>
                      </a:pPr>
                      <a:r>
                        <a:rPr lang="en-US" sz="1250" b="1" dirty="0">
                          <a:solidFill>
                            <a:srgbClr val="8B93A6"/>
                          </a:solidFill>
                        </a:rPr>
                        <a:t>WEB 1.0</a:t>
                      </a:r>
                      <a:endParaRPr lang="en-US" sz="1250" dirty="0"/>
                    </a:p>
                  </a:txBody>
                  <a:tcPr marL="76200" marR="76200" marT="50800" marB="50800" anchor="ctr">
                    <a:lnL w="9525" cap="flat" cmpd="sng" algn="ctr">
                      <a:no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250" b="1" dirty="0">
                          <a:solidFill>
                            <a:srgbClr val="4FA98B"/>
                          </a:solidFill>
                        </a:rPr>
                        <a:t>WEB 2.0</a:t>
                      </a:r>
                      <a:endParaRPr lang="en-US" sz="12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250" b="1" dirty="0">
                          <a:solidFill>
                            <a:srgbClr val="9B7FC7"/>
                          </a:solidFill>
                        </a:rPr>
                        <a:t>WEB 3.0</a:t>
                      </a:r>
                      <a:endParaRPr lang="en-US" sz="12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250" b="1" dirty="0">
                          <a:solidFill>
                            <a:srgbClr val="E0793B"/>
                          </a:solidFill>
                        </a:rPr>
                        <a:t>WEB 4.0</a:t>
                      </a:r>
                      <a:endParaRPr lang="en-US" sz="12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extLst>
                  <a:ext uri="{0D108BD9-81ED-4DB2-BD59-A6C34878D82A}">
                    <a16:rowId xmlns:a16="http://schemas.microsoft.com/office/drawing/2014/main" val="10000"/>
                  </a:ext>
                </a:extLst>
              </a:tr>
              <a:tr h="582930">
                <a:tc>
                  <a:txBody>
                    <a:bodyPr/>
                    <a:lstStyle/>
                    <a:p>
                      <a:pPr marL="0" indent="0" algn="l">
                        <a:buNone/>
                      </a:pPr>
                      <a:r>
                        <a:rPr lang="en-US" sz="1150" b="1" dirty="0">
                          <a:solidFill>
                            <a:srgbClr val="C9A24B"/>
                          </a:solidFill>
                        </a:rPr>
                        <a:t>Interacción del usuario</a:t>
                      </a:r>
                      <a:endParaRPr lang="en-US" sz="11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C2030"/>
                    </a:solidFill>
                  </a:tcPr>
                </a:tc>
                <a:tc>
                  <a:txBody>
                    <a:bodyPr/>
                    <a:lstStyle/>
                    <a:p>
                      <a:pPr marL="0" indent="0" algn="ctr">
                        <a:buNone/>
                      </a:pPr>
                      <a:r>
                        <a:rPr lang="en-US" sz="1100" dirty="0">
                          <a:solidFill>
                            <a:srgbClr val="F4EFE4"/>
                          </a:solidFill>
                        </a:rPr>
                        <a:t>Solo lectura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Lectura y escritura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Personalizada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Conversacional / inmersiva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extLst>
                  <a:ext uri="{0D108BD9-81ED-4DB2-BD59-A6C34878D82A}">
                    <a16:rowId xmlns:a16="http://schemas.microsoft.com/office/drawing/2014/main" val="10001"/>
                  </a:ext>
                </a:extLst>
              </a:tr>
              <a:tr h="582930">
                <a:tc>
                  <a:txBody>
                    <a:bodyPr/>
                    <a:lstStyle/>
                    <a:p>
                      <a:pPr marL="0" indent="0" algn="l">
                        <a:buNone/>
                      </a:pPr>
                      <a:r>
                        <a:rPr lang="en-US" sz="1150" b="1" dirty="0">
                          <a:solidFill>
                            <a:srgbClr val="C9A24B"/>
                          </a:solidFill>
                        </a:rPr>
                        <a:t>Tecnología clave</a:t>
                      </a:r>
                      <a:endParaRPr lang="en-US" sz="11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C2030"/>
                    </a:solidFill>
                  </a:tcPr>
                </a:tc>
                <a:tc>
                  <a:txBody>
                    <a:bodyPr/>
                    <a:lstStyle/>
                    <a:p>
                      <a:pPr marL="0" indent="0" algn="ctr">
                        <a:buNone/>
                      </a:pPr>
                      <a:r>
                        <a:rPr lang="en-US" sz="1100" dirty="0">
                          <a:solidFill>
                            <a:srgbClr val="F4EFE4"/>
                          </a:solidFill>
                        </a:rPr>
                        <a:t>HTML estático</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AJAX / APIs</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Cloud / Blockchain</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IA generativa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extLst>
                  <a:ext uri="{0D108BD9-81ED-4DB2-BD59-A6C34878D82A}">
                    <a16:rowId xmlns:a16="http://schemas.microsoft.com/office/drawing/2014/main" val="10002"/>
                  </a:ext>
                </a:extLst>
              </a:tr>
              <a:tr h="582930">
                <a:tc>
                  <a:txBody>
                    <a:bodyPr/>
                    <a:lstStyle/>
                    <a:p>
                      <a:pPr marL="0" indent="0" algn="l">
                        <a:buNone/>
                      </a:pPr>
                      <a:r>
                        <a:rPr lang="en-US" sz="1150" b="1" dirty="0">
                          <a:solidFill>
                            <a:srgbClr val="C9A24B"/>
                          </a:solidFill>
                        </a:rPr>
                        <a:t>Desarrollo y despliegue</a:t>
                      </a:r>
                      <a:endParaRPr lang="en-US" sz="115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C2030"/>
                    </a:solidFill>
                  </a:tcPr>
                </a:tc>
                <a:tc>
                  <a:txBody>
                    <a:bodyPr/>
                    <a:lstStyle/>
                    <a:p>
                      <a:pPr marL="0" indent="0" algn="ctr">
                        <a:buNone/>
                      </a:pPr>
                      <a:r>
                        <a:rPr lang="en-US" sz="1100" dirty="0">
                          <a:solidFill>
                            <a:srgbClr val="F4EFE4"/>
                          </a:solidFill>
                        </a:rPr>
                        <a:t>Archivos HTML vía FTP</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Backend + BD (stack LAMP)</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APIs, contenedores, DevOps</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tc>
                  <a:txBody>
                    <a:bodyPr/>
                    <a:lstStyle/>
                    <a:p>
                      <a:pPr marL="0" indent="0" algn="ctr">
                        <a:buNone/>
                      </a:pPr>
                      <a:r>
                        <a:rPr lang="en-US" sz="1100" dirty="0">
                          <a:solidFill>
                            <a:srgbClr val="F4EFE4"/>
                          </a:solidFill>
                        </a:rPr>
                        <a:t>Serverless, edge e IA integrada</a:t>
                      </a:r>
                      <a:endParaRPr lang="en-US" sz="1100" dirty="0"/>
                    </a:p>
                  </a:txBody>
                  <a:tcPr marL="76200" marR="76200" marT="50800" marB="50800" anchor="ctr">
                    <a:lnL w="9525" cap="flat" cmpd="sng" algn="ctr">
                      <a:solidFill>
                        <a:srgbClr val="343A52"/>
                      </a:solidFill>
                      <a:prstDash val="solid"/>
                      <a:round/>
                      <a:headEnd type="none" w="med" len="med"/>
                      <a:tailEnd type="none" w="med" len="med"/>
                    </a:lnL>
                    <a:lnR w="9525" cap="flat" cmpd="sng" algn="ctr">
                      <a:solidFill>
                        <a:srgbClr val="343A52"/>
                      </a:solidFill>
                      <a:prstDash val="solid"/>
                      <a:round/>
                      <a:headEnd type="none" w="med" len="med"/>
                      <a:tailEnd type="none" w="med" len="med"/>
                    </a:lnR>
                    <a:lnT w="9525" cap="flat" cmpd="sng" algn="ctr">
                      <a:solidFill>
                        <a:srgbClr val="343A52"/>
                      </a:solidFill>
                      <a:prstDash val="solid"/>
                      <a:round/>
                      <a:headEnd type="none" w="med" len="med"/>
                      <a:tailEnd type="none" w="med" len="med"/>
                    </a:lnT>
                    <a:lnB w="9525" cap="flat" cmpd="sng" algn="ctr">
                      <a:solidFill>
                        <a:srgbClr val="343A52"/>
                      </a:solidFill>
                      <a:prstDash val="solid"/>
                      <a:round/>
                      <a:headEnd type="none" w="med" len="med"/>
                      <a:tailEnd type="none" w="med" len="med"/>
                    </a:lnB>
                    <a:solidFill>
                      <a:srgbClr val="13151F"/>
                    </a:solidFill>
                  </a:tcPr>
                </a:tc>
                <a:extLst>
                  <a:ext uri="{0D108BD9-81ED-4DB2-BD59-A6C34878D82A}">
                    <a16:rowId xmlns:a16="http://schemas.microsoft.com/office/drawing/2014/main" val="10003"/>
                  </a:ext>
                </a:extLst>
              </a:tr>
            </a:tbl>
          </a:graphicData>
        </a:graphic>
      </p:graphicFrame>
      <p:sp>
        <p:nvSpPr>
          <p:cNvPr id="5" name="Shape 2"/>
          <p:cNvSpPr/>
          <p:nvPr/>
        </p:nvSpPr>
        <p:spPr>
          <a:xfrm>
            <a:off x="457200" y="3840480"/>
            <a:ext cx="11064240" cy="2468880"/>
          </a:xfrm>
          <a:prstGeom prst="rect">
            <a:avLst/>
          </a:prstGeom>
          <a:solidFill>
            <a:srgbClr val="1C2030"/>
          </a:solidFill>
          <a:ln w="12700">
            <a:solidFill>
              <a:srgbClr val="C9A24B"/>
            </a:solidFill>
            <a:prstDash val="solid"/>
          </a:ln>
        </p:spPr>
        <p:txBody>
          <a:bodyPr/>
          <a:lstStyle/>
          <a:p>
            <a:endParaRPr lang="es-ES"/>
          </a:p>
        </p:txBody>
      </p:sp>
      <p:sp>
        <p:nvSpPr>
          <p:cNvPr id="6" name="Shape 3"/>
          <p:cNvSpPr/>
          <p:nvPr/>
        </p:nvSpPr>
        <p:spPr>
          <a:xfrm>
            <a:off x="457200" y="3840480"/>
            <a:ext cx="82296" cy="2468880"/>
          </a:xfrm>
          <a:prstGeom prst="rect">
            <a:avLst/>
          </a:prstGeom>
          <a:solidFill>
            <a:srgbClr val="C9A24B"/>
          </a:solidFill>
          <a:ln/>
        </p:spPr>
        <p:txBody>
          <a:bodyPr/>
          <a:lstStyle/>
          <a:p>
            <a:endParaRPr lang="es-ES"/>
          </a:p>
        </p:txBody>
      </p:sp>
      <p:sp>
        <p:nvSpPr>
          <p:cNvPr id="7" name="Text 4"/>
          <p:cNvSpPr txBox="1"/>
          <p:nvPr/>
        </p:nvSpPr>
        <p:spPr>
          <a:xfrm>
            <a:off x="777240" y="4041648"/>
            <a:ext cx="7315200" cy="457200"/>
          </a:xfrm>
          <a:prstGeom prst="rect">
            <a:avLst/>
          </a:prstGeom>
          <a:noFill/>
          <a:ln/>
        </p:spPr>
        <p:txBody>
          <a:bodyPr wrap="square" lIns="0" tIns="0" rIns="0" bIns="0" rtlCol="0" anchor="ctr"/>
          <a:lstStyle/>
          <a:p>
            <a:pPr marL="0" indent="0">
              <a:buNone/>
            </a:pPr>
            <a:r>
              <a:rPr lang="en-US" sz="1800" b="1" dirty="0">
                <a:solidFill>
                  <a:srgbClr val="F4EFE4"/>
                </a:solidFill>
                <a:latin typeface="Georgia" pitchFamily="34" charset="0"/>
                <a:ea typeface="Georgia" pitchFamily="34" charset="-122"/>
                <a:cs typeface="Georgia" pitchFamily="34" charset="-120"/>
              </a:rPr>
              <a:t>¿Ya estamos en la Web 4.0?</a:t>
            </a:r>
            <a:endParaRPr lang="en-US" sz="1800" dirty="0"/>
          </a:p>
        </p:txBody>
      </p:sp>
      <p:sp>
        <p:nvSpPr>
          <p:cNvPr id="4" name="Text 5"/>
          <p:cNvSpPr txBox="1"/>
          <p:nvPr/>
        </p:nvSpPr>
        <p:spPr>
          <a:xfrm>
            <a:off x="777240" y="4572000"/>
            <a:ext cx="10424160" cy="1005840"/>
          </a:xfrm>
          <a:prstGeom prst="rect">
            <a:avLst/>
          </a:prstGeom>
          <a:noFill/>
          <a:ln/>
        </p:spPr>
        <p:txBody>
          <a:bodyPr wrap="square" lIns="0" tIns="0" rIns="0" bIns="0" rtlCol="0" anchor="t"/>
          <a:lstStyle/>
          <a:p>
            <a:pPr marL="0" indent="0">
              <a:lnSpc>
                <a:spcPts val="1900"/>
              </a:lnSpc>
              <a:buNone/>
            </a:pPr>
            <a:r>
              <a:rPr lang="en-US" sz="1350" dirty="0">
                <a:solidFill>
                  <a:srgbClr val="9498AC"/>
                </a:solidFill>
                <a:latin typeface="Calibri" pitchFamily="34" charset="0"/>
                <a:ea typeface="Calibri" pitchFamily="34" charset="-122"/>
                <a:cs typeface="Calibri" pitchFamily="34" charset="-120"/>
              </a:rPr>
              <a:t>Convivimos con IA generativa, asistentes conversacionales y dispositivos siempre conectados: rasgos propios de la Web 4.0. Pero la ubicuidad total y la simbiosis humano-máquina aún son incompletas, por lo que muchos autores sitúan el momento actual como una transición desde la Web 3.0.</a:t>
            </a:r>
            <a:endParaRPr lang="en-US" sz="1350" dirty="0"/>
          </a:p>
        </p:txBody>
      </p:sp>
      <p:sp>
        <p:nvSpPr>
          <p:cNvPr id="11" name="Text 8"/>
          <p:cNvSpPr txBox="1"/>
          <p:nvPr/>
        </p:nvSpPr>
        <p:spPr>
          <a:xfrm>
            <a:off x="10789920" y="6537960"/>
            <a:ext cx="914400" cy="274320"/>
          </a:xfrm>
          <a:prstGeom prst="rect">
            <a:avLst/>
          </a:prstGeom>
          <a:noFill/>
          <a:ln/>
        </p:spPr>
        <p:txBody>
          <a:bodyPr wrap="square" lIns="0" tIns="0" rIns="0" bIns="0" rtlCol="0" anchor="ctr"/>
          <a:lstStyle/>
          <a:p>
            <a:pPr marL="0" indent="0" algn="r">
              <a:buNone/>
            </a:pPr>
            <a:r>
              <a:rPr lang="en-US" sz="850" dirty="0">
                <a:solidFill>
                  <a:srgbClr val="9498AC"/>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151F"/>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382B25-81E8-2E11-A821-EC2F6DED9823}"/>
              </a:ext>
            </a:extLst>
          </p:cNvPr>
          <p:cNvSpPr>
            <a:spLocks noGrp="1"/>
          </p:cNvSpPr>
          <p:nvPr>
            <p:ph type="title"/>
          </p:nvPr>
        </p:nvSpPr>
        <p:spPr>
          <a:xfrm>
            <a:off x="470137" y="578421"/>
            <a:ext cx="3538728" cy="1645920"/>
          </a:xfrm>
        </p:spPr>
        <p:txBody>
          <a:bodyPr>
            <a:normAutofit/>
          </a:bodyPr>
          <a:lstStyle/>
          <a:p>
            <a:pPr algn="l"/>
            <a:r>
              <a:rPr lang="es-ES" sz="2600" b="1" dirty="0">
                <a:solidFill>
                  <a:srgbClr val="F4EFE4"/>
                </a:solidFill>
                <a:latin typeface="Georgia" pitchFamily="34" charset="0"/>
              </a:rPr>
              <a:t>Anexa I</a:t>
            </a:r>
          </a:p>
        </p:txBody>
      </p:sp>
      <p:pic>
        <p:nvPicPr>
          <p:cNvPr id="7" name="Marcador de contenido 6">
            <a:extLst>
              <a:ext uri="{FF2B5EF4-FFF2-40B4-BE49-F238E27FC236}">
                <a16:creationId xmlns:a16="http://schemas.microsoft.com/office/drawing/2014/main" id="{B86545FF-0B31-CC25-518C-6EDCE26105F2}"/>
              </a:ext>
            </a:extLst>
          </p:cNvPr>
          <p:cNvPicPr>
            <a:picLocks noChangeAspect="1"/>
          </p:cNvPicPr>
          <p:nvPr/>
        </p:nvPicPr>
        <p:blipFill>
          <a:blip r:embed="rId3">
            <a:extLst>
              <a:ext uri="{28A0092B-C50C-407E-A947-70E740481C1C}">
                <a14:useLocalDpi xmlns:a14="http://schemas.microsoft.com/office/drawing/2010/main" val="0"/>
              </a:ext>
            </a:extLst>
          </a:blip>
          <a:srcRect r="2825" b="4"/>
          <a:stretch>
            <a:fillRect/>
          </a:stretch>
        </p:blipFill>
        <p:spPr>
          <a:xfrm>
            <a:off x="7395264" y="2232742"/>
            <a:ext cx="4326599" cy="3483864"/>
          </a:xfrm>
          <a:prstGeom prst="rect">
            <a:avLst/>
          </a:prstGeom>
        </p:spPr>
      </p:pic>
      <p:pic>
        <p:nvPicPr>
          <p:cNvPr id="10" name="Marcador de contenido 4">
            <a:extLst>
              <a:ext uri="{FF2B5EF4-FFF2-40B4-BE49-F238E27FC236}">
                <a16:creationId xmlns:a16="http://schemas.microsoft.com/office/drawing/2014/main" id="{85A5E98A-D459-EC30-5CEB-A2665695677D}"/>
              </a:ext>
            </a:extLst>
          </p:cNvPr>
          <p:cNvPicPr>
            <a:picLocks noChangeAspect="1"/>
          </p:cNvPicPr>
          <p:nvPr/>
        </p:nvPicPr>
        <p:blipFill>
          <a:blip r:embed="rId4">
            <a:extLst>
              <a:ext uri="{28A0092B-C50C-407E-A947-70E740481C1C}">
                <a14:useLocalDpi xmlns:a14="http://schemas.microsoft.com/office/drawing/2010/main" val="0"/>
              </a:ext>
            </a:extLst>
          </a:blip>
          <a:srcRect t="2288" r="-3" b="9249"/>
          <a:stretch>
            <a:fillRect/>
          </a:stretch>
        </p:blipFill>
        <p:spPr>
          <a:xfrm>
            <a:off x="470137" y="2232742"/>
            <a:ext cx="6646980" cy="3483864"/>
          </a:xfrm>
          <a:prstGeom prst="rect">
            <a:avLst/>
          </a:prstGeom>
        </p:spPr>
      </p:pic>
      <p:sp>
        <p:nvSpPr>
          <p:cNvPr id="4" name="Shape 1">
            <a:extLst>
              <a:ext uri="{FF2B5EF4-FFF2-40B4-BE49-F238E27FC236}">
                <a16:creationId xmlns:a16="http://schemas.microsoft.com/office/drawing/2014/main" id="{12807998-E87D-DF3B-9F32-67B026664538}"/>
              </a:ext>
            </a:extLst>
          </p:cNvPr>
          <p:cNvSpPr/>
          <p:nvPr/>
        </p:nvSpPr>
        <p:spPr>
          <a:xfrm>
            <a:off x="545017" y="1045522"/>
            <a:ext cx="822960" cy="0"/>
          </a:xfrm>
          <a:prstGeom prst="line">
            <a:avLst/>
          </a:prstGeom>
          <a:noFill/>
          <a:ln w="19050">
            <a:solidFill>
              <a:srgbClr val="C9A24B"/>
            </a:solidFill>
            <a:prstDash val="solid"/>
          </a:ln>
        </p:spPr>
        <p:txBody>
          <a:bodyPr/>
          <a:lstStyle/>
          <a:p>
            <a:endParaRPr lang="es-ES" dirty="0"/>
          </a:p>
        </p:txBody>
      </p:sp>
    </p:spTree>
    <p:extLst>
      <p:ext uri="{BB962C8B-B14F-4D97-AF65-F5344CB8AC3E}">
        <p14:creationId xmlns:p14="http://schemas.microsoft.com/office/powerpoint/2010/main" val="262738076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151F"/>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E7752F-69D4-5911-5FAF-FF99D98488DA}"/>
              </a:ext>
            </a:extLst>
          </p:cNvPr>
          <p:cNvSpPr>
            <a:spLocks noGrp="1"/>
          </p:cNvSpPr>
          <p:nvPr>
            <p:ph type="title"/>
          </p:nvPr>
        </p:nvSpPr>
        <p:spPr>
          <a:xfrm>
            <a:off x="484632" y="548640"/>
            <a:ext cx="10168128" cy="1179576"/>
          </a:xfrm>
        </p:spPr>
        <p:txBody>
          <a:bodyPr>
            <a:normAutofit/>
          </a:bodyPr>
          <a:lstStyle/>
          <a:p>
            <a:pPr algn="l"/>
            <a:r>
              <a:rPr lang="es-ES" sz="2600" b="1" dirty="0">
                <a:solidFill>
                  <a:srgbClr val="F4EFE4"/>
                </a:solidFill>
                <a:latin typeface="Georgia" pitchFamily="34" charset="0"/>
              </a:rPr>
              <a:t>Anexa II</a:t>
            </a:r>
          </a:p>
        </p:txBody>
      </p:sp>
      <p:sp>
        <p:nvSpPr>
          <p:cNvPr id="3" name="Marcador de contenido 2">
            <a:extLst>
              <a:ext uri="{FF2B5EF4-FFF2-40B4-BE49-F238E27FC236}">
                <a16:creationId xmlns:a16="http://schemas.microsoft.com/office/drawing/2014/main" id="{A1A148C3-D85B-AAAA-BF0D-DAEAAF346A88}"/>
              </a:ext>
            </a:extLst>
          </p:cNvPr>
          <p:cNvSpPr>
            <a:spLocks noGrp="1"/>
          </p:cNvSpPr>
          <p:nvPr>
            <p:ph idx="1"/>
          </p:nvPr>
        </p:nvSpPr>
        <p:spPr>
          <a:xfrm>
            <a:off x="982376" y="1743004"/>
            <a:ext cx="10168128" cy="3695020"/>
          </a:xfrm>
        </p:spPr>
        <p:txBody>
          <a:bodyPr>
            <a:normAutofit/>
          </a:bodyPr>
          <a:lstStyle/>
          <a:p>
            <a:pPr lvl="0"/>
            <a:r>
              <a:rPr lang="es-ES" sz="2200" b="1" dirty="0">
                <a:solidFill>
                  <a:schemeClr val="bg1"/>
                </a:solidFill>
              </a:rPr>
              <a:t>La manera en la que estructura el contenido por generaciones y el vínculo que tiene cada una de ellas con la forma de desarrollo y despliegue me parecen 2 aspectos muy útiles</a:t>
            </a:r>
            <a:r>
              <a:rPr lang="es-ES" sz="2200" dirty="0">
                <a:solidFill>
                  <a:schemeClr val="bg1"/>
                </a:solidFill>
              </a:rPr>
              <a:t>.</a:t>
            </a:r>
          </a:p>
          <a:p>
            <a:pPr lvl="0"/>
            <a:r>
              <a:rPr lang="es-ES" sz="2200" b="1" dirty="0">
                <a:solidFill>
                  <a:schemeClr val="bg1"/>
                </a:solidFill>
              </a:rPr>
              <a:t>Modificaría</a:t>
            </a:r>
            <a:r>
              <a:rPr lang="es-ES" sz="2200" dirty="0">
                <a:solidFill>
                  <a:schemeClr val="bg1"/>
                </a:solidFill>
              </a:rPr>
              <a:t> el </a:t>
            </a:r>
            <a:r>
              <a:rPr lang="es-ES" sz="2200" b="1" dirty="0">
                <a:solidFill>
                  <a:schemeClr val="bg1"/>
                </a:solidFill>
              </a:rPr>
              <a:t>índice del </a:t>
            </a:r>
            <a:r>
              <a:rPr lang="es-ES" sz="2200" b="1" dirty="0" err="1">
                <a:solidFill>
                  <a:schemeClr val="bg1"/>
                </a:solidFill>
              </a:rPr>
              <a:t>power</a:t>
            </a:r>
            <a:r>
              <a:rPr lang="es-ES" sz="2200" b="1" dirty="0">
                <a:solidFill>
                  <a:schemeClr val="bg1"/>
                </a:solidFill>
              </a:rPr>
              <a:t> </a:t>
            </a:r>
            <a:r>
              <a:rPr lang="es-ES" sz="2200" b="1" dirty="0" err="1">
                <a:solidFill>
                  <a:schemeClr val="bg1"/>
                </a:solidFill>
              </a:rPr>
              <a:t>point</a:t>
            </a:r>
            <a:r>
              <a:rPr lang="es-ES" sz="2200" b="1" dirty="0">
                <a:solidFill>
                  <a:schemeClr val="bg1"/>
                </a:solidFill>
              </a:rPr>
              <a:t> </a:t>
            </a:r>
            <a:r>
              <a:rPr lang="es-ES" sz="2200" dirty="0">
                <a:solidFill>
                  <a:schemeClr val="bg1"/>
                </a:solidFill>
              </a:rPr>
              <a:t>ya que me hace un resumen que no es necesario añadir, </a:t>
            </a:r>
            <a:r>
              <a:rPr lang="es-ES" sz="2200" b="1" dirty="0">
                <a:solidFill>
                  <a:schemeClr val="bg1"/>
                </a:solidFill>
              </a:rPr>
              <a:t>en el Word quitaría los apartados de </a:t>
            </a:r>
            <a:r>
              <a:rPr lang="es-ES" sz="2200" b="1" i="1" dirty="0">
                <a:solidFill>
                  <a:schemeClr val="bg1"/>
                </a:solidFill>
              </a:rPr>
              <a:t>Cómo usar este documento </a:t>
            </a:r>
            <a:r>
              <a:rPr lang="es-ES" sz="2200" b="1" dirty="0">
                <a:solidFill>
                  <a:schemeClr val="bg1"/>
                </a:solidFill>
              </a:rPr>
              <a:t>y el</a:t>
            </a:r>
            <a:r>
              <a:rPr lang="es-ES" sz="2200" b="1" i="1" dirty="0">
                <a:solidFill>
                  <a:schemeClr val="bg1"/>
                </a:solidFill>
              </a:rPr>
              <a:t> Qué se ve en pantalla </a:t>
            </a:r>
            <a:r>
              <a:rPr lang="es-ES" sz="2200" b="1" dirty="0">
                <a:solidFill>
                  <a:schemeClr val="bg1"/>
                </a:solidFill>
              </a:rPr>
              <a:t>de cada punto y las posibles preguntas</a:t>
            </a:r>
            <a:r>
              <a:rPr lang="es-ES" sz="2200" dirty="0">
                <a:solidFill>
                  <a:schemeClr val="bg1"/>
                </a:solidFill>
              </a:rPr>
              <a:t>, y por último que </a:t>
            </a:r>
            <a:r>
              <a:rPr lang="es-ES" sz="2200" b="1" dirty="0">
                <a:solidFill>
                  <a:schemeClr val="bg1"/>
                </a:solidFill>
              </a:rPr>
              <a:t>tanto en el </a:t>
            </a:r>
            <a:r>
              <a:rPr lang="es-ES" sz="2200" b="1" dirty="0" err="1">
                <a:solidFill>
                  <a:schemeClr val="bg1"/>
                </a:solidFill>
              </a:rPr>
              <a:t>power</a:t>
            </a:r>
            <a:r>
              <a:rPr lang="es-ES" sz="2200" b="1" dirty="0">
                <a:solidFill>
                  <a:schemeClr val="bg1"/>
                </a:solidFill>
              </a:rPr>
              <a:t> </a:t>
            </a:r>
            <a:r>
              <a:rPr lang="es-ES" sz="2200" b="1" dirty="0" err="1">
                <a:solidFill>
                  <a:schemeClr val="bg1"/>
                </a:solidFill>
              </a:rPr>
              <a:t>point</a:t>
            </a:r>
            <a:r>
              <a:rPr lang="es-ES" sz="2200" b="1" dirty="0">
                <a:solidFill>
                  <a:schemeClr val="bg1"/>
                </a:solidFill>
              </a:rPr>
              <a:t> como en el Word que el índice fuese interactivo</a:t>
            </a:r>
            <a:r>
              <a:rPr lang="es-ES" sz="2200" dirty="0">
                <a:solidFill>
                  <a:schemeClr val="bg1"/>
                </a:solidFill>
              </a:rPr>
              <a:t>.</a:t>
            </a:r>
            <a:endParaRPr lang="es-ES" sz="2200" i="1" dirty="0">
              <a:solidFill>
                <a:schemeClr val="bg1"/>
              </a:solidFill>
            </a:endParaRPr>
          </a:p>
          <a:p>
            <a:pPr lvl="0"/>
            <a:r>
              <a:rPr lang="es-ES" sz="2200" b="1" dirty="0">
                <a:solidFill>
                  <a:schemeClr val="bg1"/>
                </a:solidFill>
              </a:rPr>
              <a:t>Las afirmaciones que debo comprobar son las fechas </a:t>
            </a:r>
            <a:r>
              <a:rPr lang="es-ES" sz="2200" dirty="0">
                <a:solidFill>
                  <a:schemeClr val="bg1"/>
                </a:solidFill>
              </a:rPr>
              <a:t>para contrastar los rangos exactos e </a:t>
            </a:r>
            <a:r>
              <a:rPr lang="es-ES" sz="2200" b="1" dirty="0">
                <a:solidFill>
                  <a:schemeClr val="bg1"/>
                </a:solidFill>
              </a:rPr>
              <a:t>información sobre la Web 4.0 </a:t>
            </a:r>
            <a:r>
              <a:rPr lang="es-ES" sz="2200" dirty="0">
                <a:solidFill>
                  <a:schemeClr val="bg1"/>
                </a:solidFill>
              </a:rPr>
              <a:t>ya que no está tan estandarizada como las anteriores.</a:t>
            </a:r>
          </a:p>
        </p:txBody>
      </p:sp>
      <p:sp>
        <p:nvSpPr>
          <p:cNvPr id="5" name="Shape 1">
            <a:extLst>
              <a:ext uri="{FF2B5EF4-FFF2-40B4-BE49-F238E27FC236}">
                <a16:creationId xmlns:a16="http://schemas.microsoft.com/office/drawing/2014/main" id="{97CEE405-BAEA-B13B-60FC-19525471AE55}"/>
              </a:ext>
            </a:extLst>
          </p:cNvPr>
          <p:cNvSpPr/>
          <p:nvPr/>
        </p:nvSpPr>
        <p:spPr>
          <a:xfrm>
            <a:off x="570896" y="1005840"/>
            <a:ext cx="822960" cy="0"/>
          </a:xfrm>
          <a:prstGeom prst="line">
            <a:avLst/>
          </a:prstGeom>
          <a:noFill/>
          <a:ln w="19050">
            <a:solidFill>
              <a:srgbClr val="C9A24B"/>
            </a:solidFill>
            <a:prstDash val="solid"/>
          </a:ln>
        </p:spPr>
        <p:txBody>
          <a:bodyPr/>
          <a:lstStyle/>
          <a:p>
            <a:endParaRPr lang="es-ES"/>
          </a:p>
        </p:txBody>
      </p:sp>
    </p:spTree>
    <p:extLst>
      <p:ext uri="{BB962C8B-B14F-4D97-AF65-F5344CB8AC3E}">
        <p14:creationId xmlns:p14="http://schemas.microsoft.com/office/powerpoint/2010/main" val="334135703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151F"/>
        </a:solidFill>
        <a:effectLst/>
      </p:bgPr>
    </p:bg>
    <p:spTree>
      <p:nvGrpSpPr>
        <p:cNvPr id="1" name=""/>
        <p:cNvGrpSpPr/>
        <p:nvPr/>
      </p:nvGrpSpPr>
      <p:grpSpPr>
        <a:xfrm>
          <a:off x="0" y="0"/>
          <a:ext cx="0" cy="0"/>
          <a:chOff x="0" y="0"/>
          <a:chExt cx="0" cy="0"/>
        </a:xfrm>
      </p:grpSpPr>
      <p:pic>
        <p:nvPicPr>
          <p:cNvPr id="10" name="Marcador de contenido 4">
            <a:extLst>
              <a:ext uri="{FF2B5EF4-FFF2-40B4-BE49-F238E27FC236}">
                <a16:creationId xmlns:a16="http://schemas.microsoft.com/office/drawing/2014/main" id="{F97227AE-9840-1B2A-4ACE-3CDF22C7DC45}"/>
              </a:ext>
            </a:extLst>
          </p:cNvPr>
          <p:cNvPicPr>
            <a:picLocks noGrp="1" noChangeAspect="1"/>
          </p:cNvPicPr>
          <p:nvPr>
            <p:ph idx="1"/>
          </p:nvPr>
        </p:nvPicPr>
        <p:blipFill>
          <a:blip r:embed="rId3"/>
          <a:stretch>
            <a:fillRect/>
          </a:stretch>
        </p:blipFill>
        <p:spPr>
          <a:prstGeom prst="rect">
            <a:avLst/>
          </a:prstGeom>
        </p:spPr>
      </p:pic>
      <p:pic>
        <p:nvPicPr>
          <p:cNvPr id="7" name="Imagen 6">
            <a:extLst>
              <a:ext uri="{FF2B5EF4-FFF2-40B4-BE49-F238E27FC236}">
                <a16:creationId xmlns:a16="http://schemas.microsoft.com/office/drawing/2014/main" id="{A4A71E77-7FA4-A87C-70A4-AD1A1A9733D3}"/>
              </a:ext>
            </a:extLst>
          </p:cNvPr>
          <p:cNvPicPr>
            <a:picLocks noChangeAspect="1"/>
          </p:cNvPicPr>
          <p:nvPr/>
        </p:nvPicPr>
        <p:blipFill>
          <a:blip r:embed="rId4"/>
          <a:stretch>
            <a:fillRect/>
          </a:stretch>
        </p:blipFill>
        <p:spPr>
          <a:xfrm>
            <a:off x="6667546" y="1829671"/>
            <a:ext cx="5225774" cy="3605784"/>
          </a:xfrm>
          <a:prstGeom prst="rect">
            <a:avLst/>
          </a:prstGeom>
        </p:spPr>
      </p:pic>
      <p:pic>
        <p:nvPicPr>
          <p:cNvPr id="3" name="Marcador de contenido 4">
            <a:extLst>
              <a:ext uri="{FF2B5EF4-FFF2-40B4-BE49-F238E27FC236}">
                <a16:creationId xmlns:a16="http://schemas.microsoft.com/office/drawing/2014/main" id="{F6ED9384-8FC5-5246-E6DD-6C13C0DA24E6}"/>
              </a:ext>
            </a:extLst>
          </p:cNvPr>
          <p:cNvPicPr>
            <a:picLocks noChangeAspect="1"/>
          </p:cNvPicPr>
          <p:nvPr/>
        </p:nvPicPr>
        <p:blipFill>
          <a:blip r:embed="rId3"/>
          <a:stretch>
            <a:fillRect/>
          </a:stretch>
        </p:blipFill>
        <p:spPr>
          <a:xfrm>
            <a:off x="298680" y="2944797"/>
            <a:ext cx="5614416" cy="1375531"/>
          </a:xfrm>
          <a:prstGeom prst="rect">
            <a:avLst/>
          </a:prstGeom>
        </p:spPr>
      </p:pic>
      <p:sp>
        <p:nvSpPr>
          <p:cNvPr id="4" name="Título 1">
            <a:extLst>
              <a:ext uri="{FF2B5EF4-FFF2-40B4-BE49-F238E27FC236}">
                <a16:creationId xmlns:a16="http://schemas.microsoft.com/office/drawing/2014/main" id="{9449F293-E47E-2B80-731D-C28CD521476A}"/>
              </a:ext>
            </a:extLst>
          </p:cNvPr>
          <p:cNvSpPr txBox="1">
            <a:spLocks/>
          </p:cNvSpPr>
          <p:nvPr/>
        </p:nvSpPr>
        <p:spPr>
          <a:xfrm>
            <a:off x="484632" y="548640"/>
            <a:ext cx="10168128" cy="1179576"/>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600" b="1" dirty="0">
                <a:solidFill>
                  <a:srgbClr val="F4EFE4"/>
                </a:solidFill>
                <a:latin typeface="Georgia" pitchFamily="34" charset="0"/>
              </a:rPr>
              <a:t>Anexa III</a:t>
            </a:r>
          </a:p>
        </p:txBody>
      </p:sp>
      <p:sp>
        <p:nvSpPr>
          <p:cNvPr id="6" name="Shape 1">
            <a:extLst>
              <a:ext uri="{FF2B5EF4-FFF2-40B4-BE49-F238E27FC236}">
                <a16:creationId xmlns:a16="http://schemas.microsoft.com/office/drawing/2014/main" id="{034370FE-1CE7-D704-305D-AE6BAEE0C1CC}"/>
              </a:ext>
            </a:extLst>
          </p:cNvPr>
          <p:cNvSpPr/>
          <p:nvPr/>
        </p:nvSpPr>
        <p:spPr>
          <a:xfrm>
            <a:off x="570896" y="1005840"/>
            <a:ext cx="822960" cy="0"/>
          </a:xfrm>
          <a:prstGeom prst="line">
            <a:avLst/>
          </a:prstGeom>
          <a:noFill/>
          <a:ln w="19050">
            <a:solidFill>
              <a:srgbClr val="C9A24B"/>
            </a:solidFill>
            <a:prstDash val="solid"/>
          </a:ln>
        </p:spPr>
        <p:txBody>
          <a:bodyPr/>
          <a:lstStyle/>
          <a:p>
            <a:endParaRPr lang="es-ES"/>
          </a:p>
        </p:txBody>
      </p:sp>
    </p:spTree>
    <p:extLst>
      <p:ext uri="{BB962C8B-B14F-4D97-AF65-F5344CB8AC3E}">
        <p14:creationId xmlns:p14="http://schemas.microsoft.com/office/powerpoint/2010/main" val="330273088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3151F"/>
        </a:solid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C4D510AF-B28B-E968-B372-B611F1AB4231}"/>
              </a:ext>
            </a:extLst>
          </p:cNvPr>
          <p:cNvSpPr txBox="1">
            <a:spLocks/>
          </p:cNvSpPr>
          <p:nvPr/>
        </p:nvSpPr>
        <p:spPr>
          <a:xfrm>
            <a:off x="484632" y="548640"/>
            <a:ext cx="10168128" cy="1179576"/>
          </a:xfr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600" b="1" dirty="0">
                <a:solidFill>
                  <a:srgbClr val="F4EFE4"/>
                </a:solidFill>
                <a:latin typeface="Georgia" pitchFamily="34" charset="0"/>
              </a:rPr>
              <a:t>Anexa IV</a:t>
            </a:r>
          </a:p>
        </p:txBody>
      </p:sp>
      <p:sp>
        <p:nvSpPr>
          <p:cNvPr id="6" name="Shape 1">
            <a:extLst>
              <a:ext uri="{FF2B5EF4-FFF2-40B4-BE49-F238E27FC236}">
                <a16:creationId xmlns:a16="http://schemas.microsoft.com/office/drawing/2014/main" id="{7108CC6A-6F0F-591F-17D3-A97417873B4A}"/>
              </a:ext>
            </a:extLst>
          </p:cNvPr>
          <p:cNvSpPr/>
          <p:nvPr/>
        </p:nvSpPr>
        <p:spPr>
          <a:xfrm>
            <a:off x="570896" y="1005840"/>
            <a:ext cx="822960" cy="0"/>
          </a:xfrm>
          <a:prstGeom prst="line">
            <a:avLst/>
          </a:prstGeom>
          <a:noFill/>
          <a:ln w="19050">
            <a:solidFill>
              <a:srgbClr val="C9A24B"/>
            </a:solidFill>
            <a:prstDash val="solid"/>
          </a:ln>
        </p:spPr>
        <p:txBody>
          <a:bodyPr/>
          <a:lstStyle/>
          <a:p>
            <a:endParaRPr lang="es-ES"/>
          </a:p>
        </p:txBody>
      </p:sp>
      <p:sp>
        <p:nvSpPr>
          <p:cNvPr id="7" name="Marcador de contenido 2">
            <a:extLst>
              <a:ext uri="{FF2B5EF4-FFF2-40B4-BE49-F238E27FC236}">
                <a16:creationId xmlns:a16="http://schemas.microsoft.com/office/drawing/2014/main" id="{D709CA27-92AA-37F0-4AD6-3CB967A20150}"/>
              </a:ext>
            </a:extLst>
          </p:cNvPr>
          <p:cNvSpPr txBox="1">
            <a:spLocks/>
          </p:cNvSpPr>
          <p:nvPr/>
        </p:nvSpPr>
        <p:spPr>
          <a:xfrm>
            <a:off x="484632" y="1463041"/>
            <a:ext cx="10515600" cy="4351338"/>
          </a:xfrm>
          <a:prstGeom prst="rect">
            <a:avLst/>
          </a:prstGeom>
        </p:spPr>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200" b="1" dirty="0">
                <a:solidFill>
                  <a:schemeClr val="bg1"/>
                </a:solidFill>
              </a:rPr>
              <a:t>“La Web 2.0 se popularizó en la conferencia de O'Reilly Media de 2004“ </a:t>
            </a:r>
            <a:r>
              <a:rPr lang="es-ES" sz="2200" dirty="0">
                <a:solidFill>
                  <a:schemeClr val="bg1"/>
                </a:solidFill>
              </a:rPr>
              <a:t>- O'Reilly Media sí popularizó el término en su primera conferencia (octubre de 2004), pero no lo acuñó: ya existía desde 1999, creado por Darcy DiNucci. </a:t>
            </a:r>
          </a:p>
          <a:p>
            <a:pPr marL="0" indent="0">
              <a:buNone/>
            </a:pPr>
            <a:r>
              <a:rPr lang="es-ES" sz="2200" dirty="0">
                <a:solidFill>
                  <a:schemeClr val="bg1"/>
                </a:solidFill>
              </a:rPr>
              <a:t>colaboradores de Wikipedia. (2026, August 5). Web 2.0. Wikipedia, La Enciclopedia Libre. </a:t>
            </a:r>
            <a:r>
              <a:rPr lang="es-ES" sz="2200" dirty="0">
                <a:solidFill>
                  <a:schemeClr val="bg1"/>
                </a:solidFill>
                <a:hlinkClick r:id="rId3">
                  <a:extLst>
                    <a:ext uri="{A12FA001-AC4F-418D-AE19-62706E023703}">
                      <ahyp:hlinkClr xmlns:ahyp="http://schemas.microsoft.com/office/drawing/2018/hyperlinkcolor" val="tx"/>
                    </a:ext>
                  </a:extLst>
                </a:hlinkClick>
              </a:rPr>
              <a:t>https://es.wikipedia.org/wiki/Web_2.0</a:t>
            </a:r>
            <a:endParaRPr lang="es-ES" sz="2200" dirty="0">
              <a:solidFill>
                <a:schemeClr val="bg1"/>
              </a:solidFill>
            </a:endParaRPr>
          </a:p>
          <a:p>
            <a:r>
              <a:rPr lang="es-ES" sz="2200" b="1" dirty="0">
                <a:solidFill>
                  <a:schemeClr val="bg1"/>
                </a:solidFill>
              </a:rPr>
              <a:t>"La Web 4.0 no es un término estandarizado“ </a:t>
            </a:r>
            <a:r>
              <a:rPr lang="es-ES" sz="2200" dirty="0">
                <a:solidFill>
                  <a:schemeClr val="bg1"/>
                </a:solidFill>
              </a:rPr>
              <a:t>- Sí existe una definición oficial: la Comisión Europea aprobó en julio de 2023 una estrategia formal (COM(2023) 442 final) que define la Web 4.0 como "la cuarta generación de la World Wide Web", con un enfoque en IA, </a:t>
            </a:r>
            <a:r>
              <a:rPr lang="es-ES" sz="2200" dirty="0" err="1">
                <a:solidFill>
                  <a:schemeClr val="bg1"/>
                </a:solidFill>
              </a:rPr>
              <a:t>IoT</a:t>
            </a:r>
            <a:r>
              <a:rPr lang="es-ES" sz="2200" dirty="0">
                <a:solidFill>
                  <a:schemeClr val="bg1"/>
                </a:solidFill>
              </a:rPr>
              <a:t>, blockchain y mundos virtuales/XR — más centrado en el metaverso que en la IA conversacional que yo había destacado</a:t>
            </a:r>
          </a:p>
          <a:p>
            <a:pPr marL="0" indent="0">
              <a:buNone/>
            </a:pPr>
            <a:r>
              <a:rPr lang="es-ES" sz="2200" dirty="0" err="1">
                <a:solidFill>
                  <a:schemeClr val="bg1"/>
                </a:solidFill>
              </a:rPr>
              <a:t>An</a:t>
            </a:r>
            <a:r>
              <a:rPr lang="es-ES" sz="2200" dirty="0">
                <a:solidFill>
                  <a:schemeClr val="bg1"/>
                </a:solidFill>
              </a:rPr>
              <a:t> EU </a:t>
            </a:r>
            <a:r>
              <a:rPr lang="es-ES" sz="2200" dirty="0" err="1">
                <a:solidFill>
                  <a:schemeClr val="bg1"/>
                </a:solidFill>
              </a:rPr>
              <a:t>initiative</a:t>
            </a:r>
            <a:r>
              <a:rPr lang="es-ES" sz="2200" dirty="0">
                <a:solidFill>
                  <a:schemeClr val="bg1"/>
                </a:solidFill>
              </a:rPr>
              <a:t> </a:t>
            </a:r>
            <a:r>
              <a:rPr lang="es-ES" sz="2200" dirty="0" err="1">
                <a:solidFill>
                  <a:schemeClr val="bg1"/>
                </a:solidFill>
              </a:rPr>
              <a:t>on</a:t>
            </a:r>
            <a:r>
              <a:rPr lang="es-ES" sz="2200" dirty="0">
                <a:solidFill>
                  <a:schemeClr val="bg1"/>
                </a:solidFill>
              </a:rPr>
              <a:t> virtual </a:t>
            </a:r>
            <a:r>
              <a:rPr lang="es-ES" sz="2200" dirty="0" err="1">
                <a:solidFill>
                  <a:schemeClr val="bg1"/>
                </a:solidFill>
              </a:rPr>
              <a:t>worlds</a:t>
            </a:r>
            <a:r>
              <a:rPr lang="es-ES" sz="2200" dirty="0">
                <a:solidFill>
                  <a:schemeClr val="bg1"/>
                </a:solidFill>
              </a:rPr>
              <a:t>: a head </a:t>
            </a:r>
            <a:r>
              <a:rPr lang="es-ES" sz="2200" dirty="0" err="1">
                <a:solidFill>
                  <a:schemeClr val="bg1"/>
                </a:solidFill>
              </a:rPr>
              <a:t>start</a:t>
            </a:r>
            <a:r>
              <a:rPr lang="es-ES" sz="2200" dirty="0">
                <a:solidFill>
                  <a:schemeClr val="bg1"/>
                </a:solidFill>
              </a:rPr>
              <a:t> in </a:t>
            </a:r>
            <a:r>
              <a:rPr lang="es-ES" sz="2200" dirty="0" err="1">
                <a:solidFill>
                  <a:schemeClr val="bg1"/>
                </a:solidFill>
              </a:rPr>
              <a:t>the</a:t>
            </a:r>
            <a:r>
              <a:rPr lang="es-ES" sz="2200" dirty="0">
                <a:solidFill>
                  <a:schemeClr val="bg1"/>
                </a:solidFill>
              </a:rPr>
              <a:t> </a:t>
            </a:r>
            <a:r>
              <a:rPr lang="es-ES" sz="2200" dirty="0" err="1">
                <a:solidFill>
                  <a:schemeClr val="bg1"/>
                </a:solidFill>
              </a:rPr>
              <a:t>next</a:t>
            </a:r>
            <a:r>
              <a:rPr lang="es-ES" sz="2200" dirty="0">
                <a:solidFill>
                  <a:schemeClr val="bg1"/>
                </a:solidFill>
              </a:rPr>
              <a:t> </a:t>
            </a:r>
            <a:r>
              <a:rPr lang="es-ES" sz="2200" dirty="0" err="1">
                <a:solidFill>
                  <a:schemeClr val="bg1"/>
                </a:solidFill>
              </a:rPr>
              <a:t>technological</a:t>
            </a:r>
            <a:r>
              <a:rPr lang="es-ES" sz="2200" dirty="0">
                <a:solidFill>
                  <a:schemeClr val="bg1"/>
                </a:solidFill>
              </a:rPr>
              <a:t> </a:t>
            </a:r>
            <a:r>
              <a:rPr lang="es-ES" sz="2200" dirty="0" err="1">
                <a:solidFill>
                  <a:schemeClr val="bg1"/>
                </a:solidFill>
              </a:rPr>
              <a:t>transition</a:t>
            </a:r>
            <a:r>
              <a:rPr lang="es-ES" sz="2200" dirty="0">
                <a:solidFill>
                  <a:schemeClr val="bg1"/>
                </a:solidFill>
              </a:rPr>
              <a:t>. (</a:t>
            </a:r>
            <a:r>
              <a:rPr lang="es-ES" sz="2200" dirty="0" err="1">
                <a:solidFill>
                  <a:schemeClr val="bg1"/>
                </a:solidFill>
              </a:rPr>
              <a:t>n.d</a:t>
            </a:r>
            <a:r>
              <a:rPr lang="es-ES" sz="2200" dirty="0">
                <a:solidFill>
                  <a:schemeClr val="bg1"/>
                </a:solidFill>
              </a:rPr>
              <a:t>.). </a:t>
            </a:r>
            <a:r>
              <a:rPr lang="es-ES" sz="2200" dirty="0" err="1">
                <a:solidFill>
                  <a:schemeClr val="bg1"/>
                </a:solidFill>
              </a:rPr>
              <a:t>Shaping</a:t>
            </a:r>
            <a:r>
              <a:rPr lang="es-ES" sz="2200" dirty="0">
                <a:solidFill>
                  <a:schemeClr val="bg1"/>
                </a:solidFill>
              </a:rPr>
              <a:t> </a:t>
            </a:r>
            <a:r>
              <a:rPr lang="es-ES" sz="2200" dirty="0" err="1">
                <a:solidFill>
                  <a:schemeClr val="bg1"/>
                </a:solidFill>
              </a:rPr>
              <a:t>Europe’s</a:t>
            </a:r>
            <a:r>
              <a:rPr lang="es-ES" sz="2200" dirty="0">
                <a:solidFill>
                  <a:schemeClr val="bg1"/>
                </a:solidFill>
              </a:rPr>
              <a:t> Digital Future. </a:t>
            </a:r>
            <a:r>
              <a:rPr lang="es-ES" sz="2200" dirty="0">
                <a:solidFill>
                  <a:schemeClr val="bg1"/>
                </a:solidFill>
                <a:hlinkClick r:id="rId4">
                  <a:extLst>
                    <a:ext uri="{A12FA001-AC4F-418D-AE19-62706E023703}">
                      <ahyp:hlinkClr xmlns:ahyp="http://schemas.microsoft.com/office/drawing/2018/hyperlinkcolor" val="tx"/>
                    </a:ext>
                  </a:extLst>
                </a:hlinkClick>
              </a:rPr>
              <a:t>https://digital-strategy.ec.europa.eu/en/library/eu-initiative-virtual-worlds-head-start-next-technological-transition</a:t>
            </a:r>
            <a:endParaRPr lang="es-ES" sz="2200" dirty="0">
              <a:solidFill>
                <a:schemeClr val="bg1"/>
              </a:solidFill>
            </a:endParaRPr>
          </a:p>
          <a:p>
            <a:pPr marL="0" indent="0">
              <a:buFont typeface="Arial" pitchFamily="34" charset="0"/>
              <a:buNone/>
            </a:pPr>
            <a:endParaRPr lang="es-ES" sz="2200" dirty="0"/>
          </a:p>
          <a:p>
            <a:endParaRPr lang="es-ES" sz="2200" dirty="0"/>
          </a:p>
        </p:txBody>
      </p:sp>
    </p:spTree>
    <p:extLst>
      <p:ext uri="{BB962C8B-B14F-4D97-AF65-F5344CB8AC3E}">
        <p14:creationId xmlns:p14="http://schemas.microsoft.com/office/powerpoint/2010/main" val="122638391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137</TotalTime>
  <Words>901</Words>
  <Application>Microsoft Office PowerPoint</Application>
  <PresentationFormat>Panorámica</PresentationFormat>
  <Paragraphs>153</Paragraphs>
  <Slides>11</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Anexa I</vt:lpstr>
      <vt:lpstr>Anexa II</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Alberto Alves García</cp:lastModifiedBy>
  <cp:revision>7</cp:revision>
  <dcterms:created xsi:type="dcterms:W3CDTF">2026-09-20T23:41:42Z</dcterms:created>
  <dcterms:modified xsi:type="dcterms:W3CDTF">2026-09-21T16:57:53Z</dcterms:modified>
</cp:coreProperties>
</file>