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4" Type="http://schemas.openxmlformats.org/officeDocument/2006/relationships/slide" Target="slide4.xml"/><Relationship Id="rId6" Type="http://schemas.openxmlformats.org/officeDocument/2006/relationships/slide" Target="slide5.xml"/><Relationship Id="rId8" Type="http://schemas.openxmlformats.org/officeDocument/2006/relationships/slide" Target="slide6.xml"/><Relationship Id="rId10" Type="http://schemas.openxmlformats.org/officeDocument/2006/relationships/slide" Target="slide7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image" Target="../media/image-2-3.png"/><Relationship Id="rId7" Type="http://schemas.openxmlformats.org/officeDocument/2006/relationships/image" Target="../media/image-2-4.png"/><Relationship Id="rId9" Type="http://schemas.openxmlformats.org/officeDocument/2006/relationships/image" Target="../media/image-2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2E335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2E33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 WEB · 2º DAW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evolución de la Web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Web 1.0 a la Web 4.0: una comparativa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960120" cy="96012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8" name="Image 0" descr="/home/claude/webevo/icons/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4227271"/>
            <a:ext cx="460858" cy="46085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50109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1.0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92808" y="4457700"/>
            <a:ext cx="1700784" cy="0"/>
          </a:xfrm>
          <a:prstGeom prst="line">
            <a:avLst/>
          </a:prstGeom>
          <a:noFill/>
          <a:ln w="19050">
            <a:solidFill>
              <a:srgbClr val="5A5F86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703320" y="3977640"/>
            <a:ext cx="960120" cy="9601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2" name="Image 1" descr="/home/claude/webevo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951" y="422727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50109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2.0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73168" y="4457700"/>
            <a:ext cx="1700784" cy="0"/>
          </a:xfrm>
          <a:prstGeom prst="line">
            <a:avLst/>
          </a:prstGeom>
          <a:noFill/>
          <a:ln w="19050">
            <a:solidFill>
              <a:srgbClr val="5A5F86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6583680" y="3977640"/>
            <a:ext cx="960120" cy="9601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/home/claude/webevo/icons/shar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311" y="422727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50109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3.0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653528" y="4457700"/>
            <a:ext cx="1700784" cy="0"/>
          </a:xfrm>
          <a:prstGeom prst="line">
            <a:avLst/>
          </a:prstGeom>
          <a:noFill/>
          <a:ln w="19050">
            <a:solidFill>
              <a:srgbClr val="5A5F86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9464040" y="3977640"/>
            <a:ext cx="960120" cy="9601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0" name="Image 3" descr="/home/claude/webevo/icons/cpu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671" y="4227271"/>
            <a:ext cx="460858" cy="4608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44000" y="50109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4.0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 · Curso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603504" cy="603504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4" name="Image 0" descr="/home/claude/webevo/icons/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551" y="2122871"/>
            <a:ext cx="289682" cy="289682"/>
          </a:xfrm>
          <a:prstGeom prst="rect">
            <a:avLst/>
          </a:prstGeom>
        </p:spPr>
      </p:pic>
      <p:sp>
        <p:nvSpPr>
          <p:cNvPr id="5" name="Text 2">
            <a:hlinkClick r:id="rId2" tooltip="" action="ppaction://hlinksldjump"/>
          </p:cNvPr>
          <p:cNvSpPr txBox="1"/>
          <p:nvPr/>
        </p:nvSpPr>
        <p:spPr>
          <a:xfrm>
            <a:off x="1417320" y="193852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C6CADA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lang="en-US" sz="2200" dirty="0"/>
          </a:p>
        </p:txBody>
      </p:sp>
      <p:sp>
        <p:nvSpPr>
          <p:cNvPr id="6" name="Text 3">
            <a:hlinkClick r:id="rId2" tooltip="" action="ppaction://hlinksldjump"/>
          </p:cNvPr>
          <p:cNvSpPr txBox="1"/>
          <p:nvPr/>
        </p:nvSpPr>
        <p:spPr>
          <a:xfrm>
            <a:off x="2194560" y="19385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1.0</a:t>
            </a:r>
            <a:endParaRPr lang="en-US" sz="180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502920" y="1911096"/>
            <a:ext cx="10332720" cy="713232"/>
          </a:xfrm>
          <a:prstGeom prst="rect">
            <a:avLst/>
          </a:prstGeom>
          <a:ln/>
        </p:spPr>
      </p:sp>
      <p:sp>
        <p:nvSpPr>
          <p:cNvPr id="8" name="Shape 5"/>
          <p:cNvSpPr/>
          <p:nvPr/>
        </p:nvSpPr>
        <p:spPr>
          <a:xfrm>
            <a:off x="548640" y="2715768"/>
            <a:ext cx="10241280" cy="0"/>
          </a:xfrm>
          <a:prstGeom prst="line">
            <a:avLst/>
          </a:prstGeom>
          <a:noFill/>
          <a:ln w="12700">
            <a:solidFill>
              <a:srgbClr val="DD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862072"/>
            <a:ext cx="603504" cy="603504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0" name="Image 1" descr="/home/claude/webevo/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51" y="3018983"/>
            <a:ext cx="289682" cy="289682"/>
          </a:xfrm>
          <a:prstGeom prst="rect">
            <a:avLst/>
          </a:prstGeom>
        </p:spPr>
      </p:pic>
      <p:sp>
        <p:nvSpPr>
          <p:cNvPr id="11" name="Text 7">
            <a:hlinkClick r:id="rId4" tooltip="" action="ppaction://hlinksldjump"/>
          </p:cNvPr>
          <p:cNvSpPr txBox="1"/>
          <p:nvPr/>
        </p:nvSpPr>
        <p:spPr>
          <a:xfrm>
            <a:off x="1417320" y="28346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C6CADA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lang="en-US" sz="2200" dirty="0"/>
          </a:p>
        </p:txBody>
      </p:sp>
      <p:sp>
        <p:nvSpPr>
          <p:cNvPr id="12" name="Text 8">
            <a:hlinkClick r:id="rId4" tooltip="" action="ppaction://hlinksldjump"/>
          </p:cNvPr>
          <p:cNvSpPr txBox="1"/>
          <p:nvPr/>
        </p:nvSpPr>
        <p:spPr>
          <a:xfrm>
            <a:off x="2194560" y="28346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2.0</a:t>
            </a:r>
            <a:endParaRPr lang="en-US" sz="1800" dirty="0"/>
          </a:p>
        </p:txBody>
      </p:sp>
      <p:sp>
        <p:nvSpPr>
          <p:cNvPr id="13" name="Shape 9">
            <a:hlinkClick r:id="rId4" tooltip="" action="ppaction://hlinksldjump"/>
          </p:cNvPr>
          <p:cNvSpPr/>
          <p:nvPr/>
        </p:nvSpPr>
        <p:spPr>
          <a:xfrm>
            <a:off x="502920" y="2807208"/>
            <a:ext cx="10332720" cy="713232"/>
          </a:xfrm>
          <a:prstGeom prst="rect">
            <a:avLst/>
          </a:prstGeom>
          <a:ln/>
        </p:spPr>
      </p:sp>
      <p:sp>
        <p:nvSpPr>
          <p:cNvPr id="14" name="Shape 10"/>
          <p:cNvSpPr/>
          <p:nvPr/>
        </p:nvSpPr>
        <p:spPr>
          <a:xfrm>
            <a:off x="548640" y="3611880"/>
            <a:ext cx="10241280" cy="0"/>
          </a:xfrm>
          <a:prstGeom prst="line">
            <a:avLst/>
          </a:prstGeom>
          <a:noFill/>
          <a:ln w="12700">
            <a:solidFill>
              <a:srgbClr val="DDE1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758184"/>
            <a:ext cx="603504" cy="60350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/home/claude/webevo/icons/shar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551" y="3915095"/>
            <a:ext cx="289682" cy="289682"/>
          </a:xfrm>
          <a:prstGeom prst="rect">
            <a:avLst/>
          </a:prstGeom>
        </p:spPr>
      </p:pic>
      <p:sp>
        <p:nvSpPr>
          <p:cNvPr id="17" name="Text 12">
            <a:hlinkClick r:id="rId6" tooltip="" action="ppaction://hlinksldjump"/>
          </p:cNvPr>
          <p:cNvSpPr txBox="1"/>
          <p:nvPr/>
        </p:nvSpPr>
        <p:spPr>
          <a:xfrm>
            <a:off x="1417320" y="373075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C6CADA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2200" dirty="0"/>
          </a:p>
        </p:txBody>
      </p:sp>
      <p:sp>
        <p:nvSpPr>
          <p:cNvPr id="18" name="Text 13">
            <a:hlinkClick r:id="rId6" tooltip="" action="ppaction://hlinksldjump"/>
          </p:cNvPr>
          <p:cNvSpPr txBox="1"/>
          <p:nvPr/>
        </p:nvSpPr>
        <p:spPr>
          <a:xfrm>
            <a:off x="2194560" y="373075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3.0</a:t>
            </a:r>
            <a:endParaRPr lang="en-US" sz="1800" dirty="0"/>
          </a:p>
        </p:txBody>
      </p:sp>
      <p:sp>
        <p:nvSpPr>
          <p:cNvPr id="19" name="Shape 14">
            <a:hlinkClick r:id="rId6" tooltip="" action="ppaction://hlinksldjump"/>
          </p:cNvPr>
          <p:cNvSpPr/>
          <p:nvPr/>
        </p:nvSpPr>
        <p:spPr>
          <a:xfrm>
            <a:off x="502920" y="3703320"/>
            <a:ext cx="10332720" cy="713232"/>
          </a:xfrm>
          <a:prstGeom prst="rect">
            <a:avLst/>
          </a:prstGeom>
          <a:ln/>
        </p:spPr>
      </p:sp>
      <p:sp>
        <p:nvSpPr>
          <p:cNvPr id="20" name="Shape 15"/>
          <p:cNvSpPr/>
          <p:nvPr/>
        </p:nvSpPr>
        <p:spPr>
          <a:xfrm>
            <a:off x="548640" y="4507992"/>
            <a:ext cx="10241280" cy="0"/>
          </a:xfrm>
          <a:prstGeom prst="line">
            <a:avLst/>
          </a:prstGeom>
          <a:noFill/>
          <a:ln w="12700">
            <a:solidFill>
              <a:srgbClr val="DDE1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4654296"/>
            <a:ext cx="603504" cy="60350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2" name="Image 3" descr="/home/claude/webevo/icons/cpu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551" y="4811207"/>
            <a:ext cx="289682" cy="289682"/>
          </a:xfrm>
          <a:prstGeom prst="rect">
            <a:avLst/>
          </a:prstGeom>
        </p:spPr>
      </p:pic>
      <p:sp>
        <p:nvSpPr>
          <p:cNvPr id="23" name="Text 17">
            <a:hlinkClick r:id="rId8" tooltip="" action="ppaction://hlinksldjump"/>
          </p:cNvPr>
          <p:cNvSpPr txBox="1"/>
          <p:nvPr/>
        </p:nvSpPr>
        <p:spPr>
          <a:xfrm>
            <a:off x="1417320" y="462686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C6CADA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2200" dirty="0"/>
          </a:p>
        </p:txBody>
      </p:sp>
      <p:sp>
        <p:nvSpPr>
          <p:cNvPr id="24" name="Text 18">
            <a:hlinkClick r:id="rId8" tooltip="" action="ppaction://hlinksldjump"/>
          </p:cNvPr>
          <p:cNvSpPr txBox="1"/>
          <p:nvPr/>
        </p:nvSpPr>
        <p:spPr>
          <a:xfrm>
            <a:off x="2194560" y="4626864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4.0</a:t>
            </a:r>
            <a:endParaRPr lang="en-US" sz="1800" dirty="0"/>
          </a:p>
        </p:txBody>
      </p:sp>
      <p:sp>
        <p:nvSpPr>
          <p:cNvPr id="25" name="Shape 19">
            <a:hlinkClick r:id="rId8" tooltip="" action="ppaction://hlinksldjump"/>
          </p:cNvPr>
          <p:cNvSpPr/>
          <p:nvPr/>
        </p:nvSpPr>
        <p:spPr>
          <a:xfrm>
            <a:off x="502920" y="4599432"/>
            <a:ext cx="10332720" cy="713232"/>
          </a:xfrm>
          <a:prstGeom prst="rect">
            <a:avLst/>
          </a:prstGeom>
          <a:ln/>
        </p:spPr>
      </p:sp>
      <p:sp>
        <p:nvSpPr>
          <p:cNvPr id="26" name="Shape 20"/>
          <p:cNvSpPr/>
          <p:nvPr/>
        </p:nvSpPr>
        <p:spPr>
          <a:xfrm>
            <a:off x="548640" y="5404104"/>
            <a:ext cx="10241280" cy="0"/>
          </a:xfrm>
          <a:prstGeom prst="line">
            <a:avLst/>
          </a:prstGeom>
          <a:noFill/>
          <a:ln w="12700">
            <a:solidFill>
              <a:srgbClr val="DDE1E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48640" y="5550408"/>
            <a:ext cx="603504" cy="60350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8" name="Image 4" descr="/home/claude/webevo/icons/help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551" y="5707319"/>
            <a:ext cx="289682" cy="289682"/>
          </a:xfrm>
          <a:prstGeom prst="rect">
            <a:avLst/>
          </a:prstGeom>
        </p:spPr>
      </p:pic>
      <p:sp>
        <p:nvSpPr>
          <p:cNvPr id="29" name="Text 22">
            <a:hlinkClick r:id="rId10" tooltip="" action="ppaction://hlinksldjump"/>
          </p:cNvPr>
          <p:cNvSpPr txBox="1"/>
          <p:nvPr/>
        </p:nvSpPr>
        <p:spPr>
          <a:xfrm>
            <a:off x="1417320" y="552297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C6CADA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2200" dirty="0"/>
          </a:p>
        </p:txBody>
      </p:sp>
      <p:sp>
        <p:nvSpPr>
          <p:cNvPr id="30" name="Text 23">
            <a:hlinkClick r:id="rId10" tooltip="" action="ppaction://hlinksldjump"/>
          </p:cNvPr>
          <p:cNvSpPr txBox="1"/>
          <p:nvPr/>
        </p:nvSpPr>
        <p:spPr>
          <a:xfrm>
            <a:off x="2194560" y="552297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Comparativa y reflexión final</a:t>
            </a:r>
            <a:endParaRPr lang="en-US" sz="1800" dirty="0"/>
          </a:p>
        </p:txBody>
      </p:sp>
      <p:sp>
        <p:nvSpPr>
          <p:cNvPr id="31" name="Shape 24">
            <a:hlinkClick r:id="rId10" tooltip="" action="ppaction://hlinksldjump"/>
          </p:cNvPr>
          <p:cNvSpPr/>
          <p:nvPr/>
        </p:nvSpPr>
        <p:spPr>
          <a:xfrm>
            <a:off x="502920" y="5495544"/>
            <a:ext cx="10332720" cy="713232"/>
          </a:xfrm>
          <a:prstGeom prst="rect">
            <a:avLst/>
          </a:prstGeom>
          <a:ln/>
        </p:spPr>
      </p:sp>
      <p:sp>
        <p:nvSpPr>
          <p:cNvPr id="32" name="Text 25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6B72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1.0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1188720" cy="118872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6" name="Image 0" descr="/home/claude/webevo/icons/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7" y="154350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6974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web de solo lectura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1991 – 2004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4041648"/>
            <a:ext cx="4572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1605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estáticas pensadas para publicar y leer información, sin posibilidad de interactuar con ellas.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40480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96512" y="694944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3" name="Image 1" descr="/home/claude/webevo/icons/lis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813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133088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estático y fijo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 un solo sentido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simple, basado en tablas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91272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47304" y="694944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8" name="Image 2" descr="/home/claude/webevo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81381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59952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representativas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básico, sin CSS avanzado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navegadores (Mosaic, Netscape)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bases de datos dinámicas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840480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096512" y="3493008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3" name="Image 3" descr="/home/claude/webevo/icons/curso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61188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916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del usuario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133088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lector, no creador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cuentas ni perfiles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por hipervínculos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891272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147304" y="3493008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8" name="Image 4" descr="/home/claude/webevo/icons/gri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61188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59952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representativos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183880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GeoCities y páginas personales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Yahoo!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webs corporativas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E3F7F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2.0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1188720" cy="11887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/home/claude/webevo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7" y="154350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6974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web social y participativa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2004 – 2010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4041648"/>
            <a:ext cx="45720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1605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deja de ser solo lector: ahora crea, comparte y opina. Nace la web de lectura y escritura.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40480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96512" y="69494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1" descr="/home/claude/webevo/icons/lis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813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133088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dinámico y generado por usuarios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sociales, blogs y wikis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más ricas e interactivas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91272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47304" y="69494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8" name="Image 2" descr="/home/claude/webevo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81381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59952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representativas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y JavaScript avanzado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RSS y servicios web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dinámicas y CMS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840480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096512" y="34930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3" name="Image 3" descr="/home/claude/webevo/icons/curso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61188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916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del usuario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133088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escritura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Comentar, valorar, compartir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y cuentas de usuario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891272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147304" y="34930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8" name="Image 4" descr="/home/claude/webevo/icons/gri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61188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59952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representativos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183880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YouTube, Twitter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WordPress, Blogger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F1E9F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3.0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" name="Image 0" descr="/home/claude/webevo/icons/shar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7" y="154350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6974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web semántica y descentralizada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2010 – actualidad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4041648"/>
            <a:ext cx="45720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1605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adquieren significado propio: la web entiende, conecta y personaliza la información.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40480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96512" y="69494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1" descr="/home/claude/webevo/icons/lis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813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133088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semántica y datos enlazados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e inteligencia de datos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Descentralización (blockchain, Web3)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91272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47304" y="69494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2" descr="/home/claude/webevo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81381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59952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representativas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 / GraphQL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y computación en la nube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e IoT inicial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840480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096512" y="349300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3" name="Image 3" descr="/home/claude/webevo/icons/curso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61188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916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del usuario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133088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Búsquedas contextuales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personalizadas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entre máquinas (M2M)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891272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147304" y="349300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8" name="Image 4" descr="/home/claude/webevo/icons/gri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61188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59952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representativos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183880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Knowledge Graph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de voz (Siri, Alexa)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descentralizadas (dApps)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FFEDE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4.0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1188720" cy="11887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/home/claude/webevo/icons/cpu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7" y="154350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6974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web inteligente y ubicua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Emergente / en construcción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4041648"/>
            <a:ext cx="45720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1605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web simbiótica entre humanos y máquinas: siempre conectada, impulsada por inteligencia artificial.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40480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96512" y="69494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3" name="Image 1" descr="/home/claude/webevo/icons/lis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813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133088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ubicua y permanente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integrada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Experiencias inmersivas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91272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47304" y="69494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8" name="Image 2" descr="/home/claude/webevo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81381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59952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representativas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y modelos de lenguaje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y redes 5G / 6G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 aumentada y virtual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840480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096512" y="349300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3" name="Image 3" descr="/home/claude/webevo/icons/curso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61188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916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del usuario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133088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Conversacional y multimodal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Proactiva y predictiva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que actúan por el usuario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891272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147304" y="349300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8" name="Image 4" descr="/home/claude/webevo/icons/gri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61188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59952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representativos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183880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de IA (ChatGPT, Claude)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de metaverso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y ciudades inteligentes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evolutiva y reflexión final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064240" cy="2331720"/>
        </p:xfrm>
        <a:graphic>
          <a:graphicData uri="http://schemas.openxmlformats.org/drawingml/2006/table">
            <a:tbl>
              <a:tblPr/>
              <a:tblGrid>
                <a:gridCol w="2468880"/>
                <a:gridCol w="2148840"/>
                <a:gridCol w="2148840"/>
                <a:gridCol w="2148840"/>
                <a:gridCol w="2148840"/>
              </a:tblGrid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WEB 1.0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WEB 2.0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WEB 3.0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WEB 4.0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Interacción del usuario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Solo lectura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Lectura y escritura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Personalizada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Conversacional / inmersiva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Tecnología clave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HTML estático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AJAX / APIs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Cloud / Blockchain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IA generativa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Desarrollo y despliegue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Archivos HTML vía FTP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Backend + BD (stack LAMP)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APIs, contenedores, DevOps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Serverless, edge e IA integrada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03320"/>
            <a:ext cx="11064240" cy="2606040"/>
          </a:xfrm>
          <a:prstGeom prst="roundRect">
            <a:avLst>
              <a:gd name="adj" fmla="val 3509"/>
            </a:avLst>
          </a:prstGeom>
          <a:solidFill>
            <a:srgbClr val="1B1F3B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402336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/home/claude/webevo/icons/hel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4170761"/>
            <a:ext cx="272125" cy="27212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4005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¿Ya estamos en la Web 4.0?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617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Convivimos con IA generativa, asistentes conversacionales y dispositivos siempre conectados: rasgos propios de la Web 4.0. Pero la ubicuidad total y la simbiosis humano-máquina aún son incompletas, por lo que muchos autores sitúan el momento actual como una transición desde la Web 3.0.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715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personal a desarrollar en clase con ejemplos propios.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2026-09-18T08:20:25Z</dcterms:created>
  <dcterms:modified xsi:type="dcterms:W3CDTF">2026-09-18T08:20:25Z</dcterms:modified>
</cp:coreProperties>
</file>